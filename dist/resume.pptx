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" y="109728"/>
            <a:ext cx="11969496" cy="6638544"/>
          </a:xfrm>
          <a:prstGeom prst="roundRect">
            <a:avLst/>
          </a:prstGeom>
          <a:noFill/>
          <a:ln w="12700">
            <a:solidFill>
              <a:srgbClr val="23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475488" cy="246888"/>
          </a:xfrm>
          <a:prstGeom prst="roundRect">
            <a:avLst/>
          </a:prstGeom>
          <a:solidFill>
            <a:srgbClr val="11151C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C8A96B"/>
                </a:solidFill>
                <a:latin typeface="Aptos"/>
              </a:rPr>
              <a:t>K3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031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F3EFE7"/>
                </a:solidFill>
                <a:latin typeface="Georgia"/>
              </a:rPr>
              <a:t>Kim Edrian Binasoy</a:t>
            </a:r>
            <a:r>
              <a:rPr sz="1050" b="0" i="0">
                <a:solidFill>
                  <a:srgbClr val="6FAE8D"/>
                </a:solidFill>
                <a:latin typeface="Aptos"/>
              </a:rPr>
              <a:t>   [ relearn.ing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01168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A9B0B8"/>
                </a:solidFill>
                <a:latin typeface="Aptos"/>
              </a:rPr>
              <a:t>hello@binasoy.kim  •  Toronto, Canada  •  github.com/kedbin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621792"/>
            <a:ext cx="11612880" cy="9144"/>
          </a:xfrm>
          <a:prstGeom prst="rect">
            <a:avLst/>
          </a:prstGeom>
          <a:solidFill>
            <a:srgbClr val="23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" y="786384"/>
            <a:ext cx="2926080" cy="5303520"/>
          </a:xfrm>
          <a:prstGeom prst="roundRect">
            <a:avLst/>
          </a:prstGeom>
          <a:solidFill>
            <a:srgbClr val="11151C"/>
          </a:solidFill>
          <a:ln w="12700">
            <a:solidFill>
              <a:srgbClr val="23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36192"/>
            <a:ext cx="1993392" cy="1993392"/>
          </a:xfrm>
          <a:prstGeom prst="ellipse">
            <a:avLst/>
          </a:prstGeom>
          <a:noFill/>
          <a:ln w="12700">
            <a:solidFill>
              <a:srgbClr val="6FA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1371600"/>
            <a:ext cx="2322576" cy="2322576"/>
          </a:xfrm>
          <a:prstGeom prst="ellipse">
            <a:avLst/>
          </a:prstGeom>
          <a:noFill/>
          <a:ln w="12700">
            <a:solidFill>
              <a:srgbClr val="7E9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" y="1225296"/>
            <a:ext cx="2615184" cy="2615184"/>
          </a:xfrm>
          <a:prstGeom prst="ellipse">
            <a:avLst/>
          </a:prstGeom>
          <a:noFill/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file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682496"/>
            <a:ext cx="1828800" cy="27249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1005840"/>
            <a:ext cx="960120" cy="256032"/>
          </a:xfrm>
          <a:prstGeom prst="roundRect">
            <a:avLst/>
          </a:prstGeom>
          <a:solidFill>
            <a:srgbClr val="12231B"/>
          </a:solidFill>
          <a:ln w="12700">
            <a:solidFill>
              <a:srgbClr val="6FA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FAE8D"/>
                </a:solidFill>
                <a:latin typeface="Aptos"/>
              </a:rPr>
              <a:t>OPEN TO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608575"/>
            <a:ext cx="2414016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F3EFE7"/>
                </a:solidFill>
                <a:latin typeface="Georgia"/>
              </a:rPr>
              <a:t>Cloud Engineer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6FAE8D"/>
                </a:solidFill>
                <a:latin typeface="Aptos"/>
              </a:rPr>
              <a:t>Automation • AI Systems •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5266944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B0B8"/>
                </a:solidFill>
                <a:latin typeface="Aptos"/>
              </a:rPr>
              <a:t>Builds cloud-native systems, automation workflows, and AI-assisted tools that reduce friction, improve onboarding, and scale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841248"/>
            <a:ext cx="49834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0" i="0">
                <a:solidFill>
                  <a:srgbClr val="F3EFE7"/>
                </a:solidFill>
                <a:latin typeface="Georgia"/>
              </a:rPr>
              <a:t>I build </a:t>
            </a:r>
            <a:r>
              <a:rPr sz="2600" b="0" i="0">
                <a:solidFill>
                  <a:srgbClr val="6FAE8D"/>
                </a:solidFill>
                <a:latin typeface="Georgia"/>
              </a:rPr>
              <a:t>systems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0" i="0">
                <a:solidFill>
                  <a:srgbClr val="F3EFE7"/>
                </a:solidFill>
                <a:latin typeface="Georgia"/>
              </a:rPr>
              <a:t>that automate, scale, and </a:t>
            </a:r>
            <a:r>
              <a:rPr sz="2600" b="0" i="0">
                <a:solidFill>
                  <a:srgbClr val="C8A96B"/>
                </a:solidFill>
                <a:latin typeface="Georgia"/>
              </a:rPr>
              <a:t>learn.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5727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A9B0B8"/>
                </a:solidFill>
                <a:latin typeface="Aptos"/>
              </a:rPr>
              <a:t>Selected experience, certifications, and keywords optimized for human + LLM screening.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385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F7882"/>
                </a:solidFill>
                <a:latin typeface="Aptos"/>
              </a:rPr>
              <a:t>SELECTED EXPERIENCE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2130552"/>
            <a:ext cx="4892040" cy="1078992"/>
          </a:xfrm>
          <a:prstGeom prst="roundRect">
            <a:avLst/>
          </a:prstGeom>
          <a:solidFill>
            <a:srgbClr val="11151C"/>
          </a:solidFill>
          <a:ln w="12700">
            <a:solidFill>
              <a:srgbClr val="23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4176" y="2276856"/>
            <a:ext cx="45720" cy="786384"/>
          </a:xfrm>
          <a:prstGeom prst="rect">
            <a:avLst/>
          </a:prstGeom>
          <a:solidFill>
            <a:srgbClr val="6F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25856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F7882"/>
                </a:solidFill>
                <a:latin typeface="Aptos"/>
              </a:rPr>
              <a:t>NOV 2025 — PRESENT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468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3EFE7"/>
                </a:solidFill>
                <a:latin typeface="Aptos"/>
              </a:rPr>
              <a:t>Founder</a:t>
            </a:r>
            <a:r>
              <a:rPr sz="1350" b="0" i="0">
                <a:solidFill>
                  <a:srgbClr val="6FAE8D"/>
                </a:solidFill>
                <a:latin typeface="Aptos"/>
              </a:rPr>
              <a:t>  Relearn.ing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77977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50" b="0" i="0">
                <a:solidFill>
                  <a:srgbClr val="A9B0B8"/>
                </a:solidFill>
                <a:latin typeface="Aptos"/>
              </a:rPr>
              <a:t>Leading product direction for a digital learning platform centered on AI-era work and continuous improvement.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50" b="0" i="0">
                <a:solidFill>
                  <a:srgbClr val="A9B0B8"/>
                </a:solidFill>
                <a:latin typeface="Aptos"/>
              </a:rPr>
              <a:t>Architecting cloud-native workflows for content delivery, automation, and user engagement.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50" b="0" i="0">
                <a:solidFill>
                  <a:srgbClr val="A9B0B8"/>
                </a:solidFill>
                <a:latin typeface="Aptos"/>
              </a:rPr>
              <a:t>Designing ethical AI-assisted systems that help users operationalize learning and personal growth.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282696"/>
            <a:ext cx="4892040" cy="1078992"/>
          </a:xfrm>
          <a:prstGeom prst="roundRect">
            <a:avLst/>
          </a:prstGeom>
          <a:solidFill>
            <a:srgbClr val="11151C"/>
          </a:solidFill>
          <a:ln w="12700">
            <a:solidFill>
              <a:srgbClr val="23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94176" y="3429000"/>
            <a:ext cx="45720" cy="786384"/>
          </a:xfrm>
          <a:prstGeom prst="rect">
            <a:avLst/>
          </a:prstGeom>
          <a:solidFill>
            <a:srgbClr val="7E9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410712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F7882"/>
                </a:solidFill>
                <a:latin typeface="Aptos"/>
              </a:rPr>
              <a:t>JUN 2023 — NOV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6210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3EFE7"/>
                </a:solidFill>
                <a:latin typeface="Aptos"/>
              </a:rPr>
              <a:t>Quality Automation Engineer</a:t>
            </a:r>
            <a:r>
              <a:rPr sz="1350" b="0" i="0">
                <a:solidFill>
                  <a:srgbClr val="7E97B8"/>
                </a:solidFill>
                <a:latin typeface="Aptos"/>
              </a:rPr>
              <a:t>  Transportation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93192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50" b="0" i="0">
                <a:solidFill>
                  <a:srgbClr val="A9B0B8"/>
                </a:solidFill>
                <a:latin typeface="Aptos"/>
              </a:rPr>
              <a:t>Executed 800+ test cases and shipped an automation tool that reduced documentation time by 70%.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50" b="0" i="0">
                <a:solidFill>
                  <a:srgbClr val="A9B0B8"/>
                </a:solidFill>
                <a:latin typeface="Aptos"/>
              </a:rPr>
              <a:t>Improved testing efficiency by 40% through cross-functional automation and process improvements.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50" b="0" i="0">
                <a:solidFill>
                  <a:srgbClr val="A9B0B8"/>
                </a:solidFill>
                <a:latin typeface="Aptos"/>
              </a:rPr>
              <a:t>Built MS Teams bots and GenAI-powered knowledge transfer tooling for onboarding and operations.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4434840"/>
            <a:ext cx="4892040" cy="896112"/>
          </a:xfrm>
          <a:prstGeom prst="roundRect">
            <a:avLst/>
          </a:prstGeom>
          <a:solidFill>
            <a:srgbClr val="11151C"/>
          </a:solidFill>
          <a:ln w="12700">
            <a:solidFill>
              <a:srgbClr val="23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94176" y="4581144"/>
            <a:ext cx="45720" cy="603504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4562856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F7882"/>
                </a:solidFill>
                <a:latin typeface="Aptos"/>
              </a:rPr>
              <a:t>2021 —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773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3EFE7"/>
                </a:solidFill>
                <a:latin typeface="Aptos"/>
              </a:rPr>
              <a:t>Program Mgmt &amp; App Dev</a:t>
            </a:r>
            <a:r>
              <a:rPr sz="1350" b="0" i="0">
                <a:solidFill>
                  <a:srgbClr val="C8A96B"/>
                </a:solidFill>
                <a:latin typeface="Aptos"/>
              </a:rPr>
              <a:t>  Banking &amp;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084064"/>
            <a:ext cx="4480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50" b="0" i="0">
                <a:solidFill>
                  <a:srgbClr val="A9B0B8"/>
                </a:solidFill>
                <a:latin typeface="Aptos"/>
              </a:rPr>
              <a:t>Managed onboarding/offboarding workflows for 200+ resources and improved operational efficiency by 50–75%.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50" b="0" i="0">
                <a:solidFill>
                  <a:srgbClr val="A9B0B8"/>
                </a:solidFill>
                <a:latin typeface="Aptos"/>
              </a:rPr>
              <a:t>Built Power Automate, PowerApps, Teams tooling, and automated web workflows across internal operations.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89611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F7882"/>
                </a:solidFill>
                <a:latin typeface="Aptos"/>
              </a:rPr>
              <a:t>CORE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1078992"/>
            <a:ext cx="136702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Azure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AWS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Python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TypeScript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React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Node.js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9276" y="1078992"/>
            <a:ext cx="136702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Power Automate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Cloud Operations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QA Automation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Runbooks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Incident Triage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A9B0B8"/>
                </a:solidFill>
                <a:latin typeface="Aptos"/>
              </a:rPr>
              <a:t>GenAI Tooling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21945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F7882"/>
                </a:solidFill>
                <a:latin typeface="Aptos"/>
              </a:rPr>
              <a:t>CERTIFICATIONS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414016"/>
            <a:ext cx="28346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3EFE7"/>
                </a:solidFill>
                <a:latin typeface="Aptos"/>
              </a:rPr>
              <a:t>Google Professional Cloud DevOps Engineer</a:t>
            </a:r>
            <a:r>
              <a:rPr sz="1000" b="0" i="0">
                <a:solidFill>
                  <a:srgbClr val="A9B0B8"/>
                </a:solidFill>
                <a:latin typeface="Aptos"/>
              </a:rPr>
              <a:t> — Feb 2026 — Feb 2028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3EFE7"/>
                </a:solidFill>
                <a:latin typeface="Aptos"/>
              </a:rPr>
              <a:t>Google Professional Security Operations Engineer</a:t>
            </a:r>
            <a:r>
              <a:rPr sz="1000" b="0" i="0">
                <a:solidFill>
                  <a:srgbClr val="A9B0B8"/>
                </a:solidFill>
                <a:latin typeface="Aptos"/>
              </a:rPr>
              <a:t> — Jan 2026 — Jan 2028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3EFE7"/>
                </a:solidFill>
                <a:latin typeface="Aptos"/>
              </a:rPr>
              <a:t>Google Professional Cloud Architect</a:t>
            </a:r>
            <a:r>
              <a:rPr sz="1000" b="0" i="0">
                <a:solidFill>
                  <a:srgbClr val="A9B0B8"/>
                </a:solidFill>
                <a:latin typeface="Aptos"/>
              </a:rPr>
              <a:t> — Jan 2026 — Jan 2028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3EFE7"/>
                </a:solidFill>
                <a:latin typeface="Aptos"/>
              </a:rPr>
              <a:t>Google Generative AI Leader</a:t>
            </a:r>
            <a:r>
              <a:rPr sz="1000" b="0" i="0">
                <a:solidFill>
                  <a:srgbClr val="A9B0B8"/>
                </a:solidFill>
                <a:latin typeface="Aptos"/>
              </a:rPr>
              <a:t> — Dec 2025 — Dec 2028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3EFE7"/>
                </a:solidFill>
                <a:latin typeface="Aptos"/>
              </a:rPr>
              <a:t>Azure Developer / AI Fundamentals / Azure Fundamentals / AWS CCP</a:t>
            </a:r>
            <a:r>
              <a:rPr sz="1000" b="0" i="0">
                <a:solidFill>
                  <a:srgbClr val="A9B0B8"/>
                </a:solidFill>
                <a:latin typeface="Aptos"/>
              </a:rPr>
              <a:t> — Additional certifications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51023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6F7882"/>
                </a:solidFill>
                <a:latin typeface="Aptos"/>
              </a:rPr>
              <a:t>HIGHLIGHTS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5340096"/>
            <a:ext cx="28803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60" b="0" i="0">
                <a:solidFill>
                  <a:srgbClr val="A9B0B8"/>
                </a:solidFill>
                <a:latin typeface="Aptos"/>
              </a:rPr>
              <a:t>4+ years across transportation, banking, and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60" b="0" i="0">
                <a:solidFill>
                  <a:srgbClr val="A9B0B8"/>
                </a:solidFill>
                <a:latin typeface="Aptos"/>
              </a:rPr>
              <a:t>800+ executed test cases.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60" b="0" i="0">
                <a:solidFill>
                  <a:srgbClr val="A9B0B8"/>
                </a:solidFill>
                <a:latin typeface="Aptos"/>
              </a:rPr>
              <a:t>70% documentation time reduction via automation.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60" b="0" i="0">
                <a:solidFill>
                  <a:srgbClr val="A9B0B8"/>
                </a:solidFill>
                <a:latin typeface="Aptos"/>
              </a:rPr>
              <a:t>40% testing efficiency improvement.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60" b="0" i="0">
                <a:solidFill>
                  <a:srgbClr val="A9B0B8"/>
                </a:solidFill>
                <a:latin typeface="Aptos"/>
              </a:rPr>
              <a:t>5-Day AI Agents Intensive Course with Google (ULSA).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6FAE8D"/>
                </a:solidFill>
                <a:latin typeface="Aptos"/>
              </a:rPr>
              <a:t>• </a:t>
            </a:r>
            <a:r>
              <a:rPr sz="960" b="0" i="0">
                <a:solidFill>
                  <a:srgbClr val="A9B0B8"/>
                </a:solidFill>
                <a:latin typeface="Aptos"/>
              </a:rPr>
              <a:t>Portfolio: binasoy.kim • Publication: relearn.ing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