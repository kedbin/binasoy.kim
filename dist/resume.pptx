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978A2A4-D95A-4D4A-A08C-DB65ABD6E69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1C8E42AB-EFC4-4666-B4D9-2B2B62BF1AC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517A37D8-2123-4F62-8C45-F8E9E2B9389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4A74A9A6-B2C6-4789-BBFA-E0AA66B63C3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14B99E8A-C73F-42D3-8D5F-E7857F5A3C2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19A11714-9816-4457-A994-46094BAC4B4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1480313F-2674-4D71-BC99-A22F44F231E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4F649F85-1404-4909-BAB9-9A5DB26E38E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DC67BEA5-4A3C-48C4-B21A-45A109E8AF2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CBCDC8E7-C35D-4B4E-82C0-07FC230BED9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1A3F0A76-1F50-4878-A0DF-42504185742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5670031-F930-436D-A16C-393023475DE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17D07DF-E341-46A6-8A6E-34C3E4B6E14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94D43BF-B7FC-4AD2-BE7A-D30A1A5F587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48F4673-5277-449B-8222-6CA4868AC5E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DF1A092-B855-43F2-9CD6-40FFF3EB7DB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7BA129F-717E-49A6-B65D-48B5E06D3DC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9C33116-CC6A-408E-90FE-ADC3AD63064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A422CB6-A7B4-4934-9405-E8D5837BB07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C4CE2A5-09AF-4E36-A7FB-96F878A8F6B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89622BF-535F-4FA4-9281-DB1C9BABDB4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CBF6EB8-F5BB-4E5F-A4D1-6257D0856C5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90b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ounded Rectangle 1"/>
          <p:cNvSpPr/>
          <p:nvPr/>
        </p:nvSpPr>
        <p:spPr>
          <a:xfrm>
            <a:off x="109800" y="109800"/>
            <a:ext cx="11969280" cy="663804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232a3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Rounded Rectangle 2"/>
          <p:cNvSpPr/>
          <p:nvPr/>
        </p:nvSpPr>
        <p:spPr>
          <a:xfrm>
            <a:off x="320040" y="255960"/>
            <a:ext cx="475200" cy="246600"/>
          </a:xfrm>
          <a:prstGeom prst="roundRect">
            <a:avLst>
              <a:gd name="adj" fmla="val 16667"/>
            </a:avLst>
          </a:prstGeom>
          <a:solidFill>
            <a:srgbClr val="11151c"/>
          </a:solidFill>
          <a:ln w="12700">
            <a:solidFill>
              <a:srgbClr val="c8a9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15000"/>
              </a:lnSpc>
            </a:pPr>
            <a:r>
              <a:rPr b="1" lang="en-US" sz="1000" spc="-1" strike="noStrike">
                <a:solidFill>
                  <a:srgbClr val="c8a96b"/>
                </a:solidFill>
                <a:latin typeface="Aptos"/>
              </a:rPr>
              <a:t>K3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841320" y="210240"/>
            <a:ext cx="3840120" cy="3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900" spc="-1" strike="noStrike">
                <a:solidFill>
                  <a:srgbClr val="f3efe7"/>
                </a:solidFill>
                <a:latin typeface="Georgia"/>
              </a:rPr>
              <a:t>Kim Edrian Binasoy</a:t>
            </a:r>
            <a:r>
              <a:rPr b="0" lang="en-US" sz="1050" spc="-1" strike="noStrike">
                <a:solidFill>
                  <a:srgbClr val="6fae8d"/>
                </a:solidFill>
                <a:latin typeface="Aptos"/>
              </a:rPr>
              <a:t>   [ relearn.ing ]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7406640" y="201240"/>
            <a:ext cx="438876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0" lang="en-US" sz="1050" spc="-1" strike="noStrike">
                <a:solidFill>
                  <a:srgbClr val="a9b0b8"/>
                </a:solidFill>
                <a:latin typeface="Aptos"/>
              </a:rPr>
              <a:t>hello@binasoy.kim  •  Toronto, Canada  •  github.com/kedbin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Rectangle 5"/>
          <p:cNvSpPr/>
          <p:nvPr/>
        </p:nvSpPr>
        <p:spPr>
          <a:xfrm>
            <a:off x="292680" y="621720"/>
            <a:ext cx="11612520" cy="8640"/>
          </a:xfrm>
          <a:prstGeom prst="rect">
            <a:avLst/>
          </a:prstGeom>
          <a:solidFill>
            <a:srgbClr val="232a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" name="Rounded Rectangle 6"/>
          <p:cNvSpPr/>
          <p:nvPr/>
        </p:nvSpPr>
        <p:spPr>
          <a:xfrm>
            <a:off x="347400" y="786240"/>
            <a:ext cx="2925720" cy="5614560"/>
          </a:xfrm>
          <a:prstGeom prst="roundRect">
            <a:avLst>
              <a:gd name="adj" fmla="val 16667"/>
            </a:avLst>
          </a:prstGeom>
          <a:solidFill>
            <a:srgbClr val="11151c"/>
          </a:solidFill>
          <a:ln w="12700">
            <a:solidFill>
              <a:srgbClr val="232a3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" name="Oval 7"/>
          <p:cNvSpPr/>
          <p:nvPr/>
        </p:nvSpPr>
        <p:spPr>
          <a:xfrm>
            <a:off x="731520" y="1536120"/>
            <a:ext cx="1992960" cy="1992960"/>
          </a:xfrm>
          <a:prstGeom prst="ellipse">
            <a:avLst/>
          </a:prstGeom>
          <a:noFill/>
          <a:ln w="12700">
            <a:solidFill>
              <a:srgbClr val="6fae8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" name="Oval 8"/>
          <p:cNvSpPr/>
          <p:nvPr/>
        </p:nvSpPr>
        <p:spPr>
          <a:xfrm>
            <a:off x="567000" y="1371600"/>
            <a:ext cx="2322360" cy="2322360"/>
          </a:xfrm>
          <a:prstGeom prst="ellipse">
            <a:avLst/>
          </a:prstGeom>
          <a:noFill/>
          <a:ln w="12700">
            <a:solidFill>
              <a:srgbClr val="7e97b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" name="Oval 9"/>
          <p:cNvSpPr/>
          <p:nvPr/>
        </p:nvSpPr>
        <p:spPr>
          <a:xfrm>
            <a:off x="420480" y="1225440"/>
            <a:ext cx="2614680" cy="2614680"/>
          </a:xfrm>
          <a:prstGeom prst="ellipse">
            <a:avLst/>
          </a:prstGeom>
          <a:noFill/>
          <a:ln w="12700">
            <a:solidFill>
              <a:srgbClr val="c8a9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6" name="Picture 10" descr="profile_v4.png"/>
          <p:cNvPicPr/>
          <p:nvPr/>
        </p:nvPicPr>
        <p:blipFill>
          <a:blip r:embed="rId1"/>
          <a:stretch/>
        </p:blipFill>
        <p:spPr>
          <a:xfrm>
            <a:off x="850320" y="1682640"/>
            <a:ext cx="1828440" cy="2724480"/>
          </a:xfrm>
          <a:prstGeom prst="rect">
            <a:avLst/>
          </a:prstGeom>
          <a:ln w="0">
            <a:noFill/>
          </a:ln>
        </p:spPr>
      </p:pic>
      <p:sp>
        <p:nvSpPr>
          <p:cNvPr id="77" name="TextBox 12"/>
          <p:cNvSpPr/>
          <p:nvPr/>
        </p:nvSpPr>
        <p:spPr>
          <a:xfrm>
            <a:off x="603360" y="4608720"/>
            <a:ext cx="2413800" cy="75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300" spc="-1" strike="noStrike">
                <a:solidFill>
                  <a:srgbClr val="f3efe7"/>
                </a:solidFill>
                <a:latin typeface="Georgia"/>
              </a:rPr>
              <a:t>Cloud Engineer</a:t>
            </a:r>
            <a:endParaRPr b="0" lang="en-US" sz="2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15000"/>
              </a:lnSpc>
            </a:pPr>
            <a:r>
              <a:rPr b="1" lang="en-US" sz="1150" spc="-1" strike="noStrike">
                <a:solidFill>
                  <a:srgbClr val="6fae8d"/>
                </a:solidFill>
                <a:latin typeface="Aptos"/>
              </a:rPr>
              <a:t>Automation • AI Systems • Developer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TextBox 13"/>
          <p:cNvSpPr/>
          <p:nvPr/>
        </p:nvSpPr>
        <p:spPr>
          <a:xfrm>
            <a:off x="603360" y="5418720"/>
            <a:ext cx="2331360" cy="75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1050" spc="-1" strike="noStrike">
                <a:solidFill>
                  <a:srgbClr val="a9b0b8"/>
                </a:solidFill>
                <a:latin typeface="Aptos"/>
              </a:rPr>
              <a:t>Builds cloud-native systems, automation workflows, and AI-assisted tools that reduce friction, and scale delivery.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Box 14"/>
          <p:cNvSpPr/>
          <p:nvPr/>
        </p:nvSpPr>
        <p:spPr>
          <a:xfrm>
            <a:off x="3566160" y="848160"/>
            <a:ext cx="4983120" cy="75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95000"/>
              </a:lnSpc>
            </a:pPr>
            <a:r>
              <a:rPr b="0" lang="en-US" sz="2600" spc="-1" strike="noStrike">
                <a:solidFill>
                  <a:srgbClr val="f3efe7"/>
                </a:solidFill>
                <a:latin typeface="Georgia"/>
              </a:rPr>
              <a:t>I build </a:t>
            </a:r>
            <a:r>
              <a:rPr b="0" lang="en-US" sz="2600" spc="-1" strike="noStrike">
                <a:solidFill>
                  <a:srgbClr val="6fae8d"/>
                </a:solidFill>
                <a:latin typeface="Georgia"/>
              </a:rPr>
              <a:t>systems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95000"/>
              </a:lnSpc>
            </a:pPr>
            <a:r>
              <a:rPr b="0" lang="en-US" sz="2600" spc="-1" strike="noStrike">
                <a:solidFill>
                  <a:srgbClr val="f3efe7"/>
                </a:solidFill>
                <a:latin typeface="Georgia"/>
              </a:rPr>
              <a:t>that automate, scale, and </a:t>
            </a:r>
            <a:r>
              <a:rPr b="0" lang="en-US" sz="2600" spc="-1" strike="noStrike">
                <a:solidFill>
                  <a:srgbClr val="c8a96b"/>
                </a:solidFill>
                <a:latin typeface="Georgia"/>
              </a:rPr>
              <a:t>learn.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Box 15"/>
          <p:cNvSpPr/>
          <p:nvPr/>
        </p:nvSpPr>
        <p:spPr>
          <a:xfrm>
            <a:off x="3566160" y="1644840"/>
            <a:ext cx="45716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050" spc="-1" strike="noStrike">
                <a:solidFill>
                  <a:srgbClr val="a9b0b8"/>
                </a:solidFill>
                <a:latin typeface="Aptos"/>
              </a:rPr>
              <a:t>   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TextBox 16"/>
          <p:cNvSpPr/>
          <p:nvPr/>
        </p:nvSpPr>
        <p:spPr>
          <a:xfrm>
            <a:off x="3566160" y="1644840"/>
            <a:ext cx="274284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00" spc="-1" strike="noStrike">
                <a:solidFill>
                  <a:srgbClr val="6f7882"/>
                </a:solidFill>
                <a:latin typeface="Aptos"/>
              </a:rPr>
              <a:t>SELECTED EXPERIENCE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Rounded Rectangle 17"/>
          <p:cNvSpPr/>
          <p:nvPr/>
        </p:nvSpPr>
        <p:spPr>
          <a:xfrm>
            <a:off x="3566520" y="1828800"/>
            <a:ext cx="4891680" cy="1600200"/>
          </a:xfrm>
          <a:prstGeom prst="roundRect">
            <a:avLst>
              <a:gd name="adj" fmla="val 16667"/>
            </a:avLst>
          </a:prstGeom>
          <a:solidFill>
            <a:srgbClr val="11151c"/>
          </a:solidFill>
          <a:ln w="12700">
            <a:solidFill>
              <a:srgbClr val="232a3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" name="Rectangle 18"/>
          <p:cNvSpPr/>
          <p:nvPr/>
        </p:nvSpPr>
        <p:spPr>
          <a:xfrm>
            <a:off x="3657600" y="1957320"/>
            <a:ext cx="36720" cy="1243080"/>
          </a:xfrm>
          <a:prstGeom prst="rect">
            <a:avLst/>
          </a:prstGeom>
          <a:solidFill>
            <a:srgbClr val="6fae8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" name="TextBox 19"/>
          <p:cNvSpPr/>
          <p:nvPr/>
        </p:nvSpPr>
        <p:spPr>
          <a:xfrm>
            <a:off x="3886200" y="1899000"/>
            <a:ext cx="448020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00" spc="-1" strike="noStrike">
                <a:solidFill>
                  <a:srgbClr val="6f7882"/>
                </a:solidFill>
                <a:latin typeface="Aptos"/>
              </a:rPr>
              <a:t>NOV 2025 — PRESENT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TextBox 20"/>
          <p:cNvSpPr/>
          <p:nvPr/>
        </p:nvSpPr>
        <p:spPr>
          <a:xfrm>
            <a:off x="3886200" y="2057400"/>
            <a:ext cx="44802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450" spc="-1" strike="noStrike">
                <a:solidFill>
                  <a:srgbClr val="f3efe7"/>
                </a:solidFill>
                <a:latin typeface="Aptos"/>
              </a:rPr>
              <a:t>Founder</a:t>
            </a:r>
            <a:r>
              <a:rPr b="0" lang="en-US" sz="1350" spc="-1" strike="noStrike">
                <a:solidFill>
                  <a:srgbClr val="6fae8d"/>
                </a:solidFill>
                <a:latin typeface="Aptos"/>
              </a:rPr>
              <a:t>  Relearn.ing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TextBox 21"/>
          <p:cNvSpPr/>
          <p:nvPr/>
        </p:nvSpPr>
        <p:spPr>
          <a:xfrm>
            <a:off x="3886200" y="2418840"/>
            <a:ext cx="4480200" cy="74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950" spc="-1" strike="noStrike">
                <a:solidFill>
                  <a:srgbClr val="6fae8d"/>
                </a:solidFill>
                <a:latin typeface="Aptos"/>
              </a:rPr>
              <a:t>• </a:t>
            </a:r>
            <a:r>
              <a:rPr b="0" lang="en-US" sz="950" spc="-1" strike="noStrike">
                <a:solidFill>
                  <a:srgbClr val="a9b0b8"/>
                </a:solidFill>
                <a:latin typeface="Aptos"/>
              </a:rPr>
              <a:t>Leading product direction for a digital learning platform centered on AI-era work and continuous improvement.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950" spc="-1" strike="noStrike">
                <a:solidFill>
                  <a:srgbClr val="6fae8d"/>
                </a:solidFill>
                <a:latin typeface="Aptos"/>
              </a:rPr>
              <a:t>• </a:t>
            </a:r>
            <a:r>
              <a:rPr b="0" lang="en-US" sz="950" spc="-1" strike="noStrike">
                <a:solidFill>
                  <a:srgbClr val="a9b0b8"/>
                </a:solidFill>
                <a:latin typeface="Aptos"/>
              </a:rPr>
              <a:t>Architecting cloud-native workflows for content delivery, automation, and user engagement.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Rounded Rectangle 22"/>
          <p:cNvSpPr/>
          <p:nvPr/>
        </p:nvSpPr>
        <p:spPr>
          <a:xfrm>
            <a:off x="3566520" y="3561120"/>
            <a:ext cx="4891680" cy="2611080"/>
          </a:xfrm>
          <a:prstGeom prst="roundRect">
            <a:avLst>
              <a:gd name="adj" fmla="val 16667"/>
            </a:avLst>
          </a:prstGeom>
          <a:solidFill>
            <a:srgbClr val="11151c"/>
          </a:solidFill>
          <a:ln w="12700">
            <a:solidFill>
              <a:srgbClr val="232a3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TextBox 24"/>
          <p:cNvSpPr/>
          <p:nvPr/>
        </p:nvSpPr>
        <p:spPr>
          <a:xfrm>
            <a:off x="3886200" y="3569040"/>
            <a:ext cx="448020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00" spc="-1" strike="noStrike">
                <a:solidFill>
                  <a:srgbClr val="6f7882"/>
                </a:solidFill>
                <a:latin typeface="Aptos"/>
              </a:rPr>
              <a:t>JUN 2023 — Present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TextBox 25"/>
          <p:cNvSpPr/>
          <p:nvPr/>
        </p:nvSpPr>
        <p:spPr>
          <a:xfrm>
            <a:off x="3840480" y="3727440"/>
            <a:ext cx="44802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450" spc="-1" strike="noStrike">
                <a:solidFill>
                  <a:srgbClr val="f3efe7"/>
                </a:solidFill>
                <a:latin typeface="Aptos"/>
              </a:rPr>
              <a:t>Quality Automation Engineer</a:t>
            </a:r>
            <a:r>
              <a:rPr b="0" lang="en-US" sz="1350" spc="-1" strike="noStrike">
                <a:solidFill>
                  <a:srgbClr val="7e97b8"/>
                </a:solidFill>
                <a:latin typeface="Aptos"/>
              </a:rPr>
              <a:t>  Transportation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Box 26"/>
          <p:cNvSpPr/>
          <p:nvPr/>
        </p:nvSpPr>
        <p:spPr>
          <a:xfrm>
            <a:off x="3886200" y="4107600"/>
            <a:ext cx="4480200" cy="187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950" spc="-1" strike="noStrike">
                <a:solidFill>
                  <a:srgbClr val="6fae8d"/>
                </a:solidFill>
                <a:latin typeface="Aptos"/>
              </a:rPr>
              <a:t>• </a:t>
            </a:r>
            <a:r>
              <a:rPr b="0" lang="en-US" sz="950" spc="-1" strike="noStrike">
                <a:solidFill>
                  <a:srgbClr val="a9b0b8"/>
                </a:solidFill>
                <a:latin typeface="Aptos"/>
              </a:rPr>
              <a:t>Executed 800+ test cases and shipped an automation tool that reduced documentation time by 70%.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950" spc="-1" strike="noStrike">
                <a:solidFill>
                  <a:srgbClr val="6fae8d"/>
                </a:solidFill>
                <a:latin typeface="Aptos"/>
              </a:rPr>
              <a:t>• </a:t>
            </a:r>
            <a:r>
              <a:rPr b="0" lang="en-US" sz="950" spc="-1" strike="noStrike">
                <a:solidFill>
                  <a:srgbClr val="a9b0b8"/>
                </a:solidFill>
                <a:latin typeface="Aptos"/>
              </a:rPr>
              <a:t>Improved testing efficiency by 40% through cross-functional automation and process improvements.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950" spc="-1" strike="noStrike">
                <a:solidFill>
                  <a:srgbClr val="6fae8d"/>
                </a:solidFill>
                <a:latin typeface="Aptos"/>
              </a:rPr>
              <a:t>• </a:t>
            </a:r>
            <a:r>
              <a:rPr b="0" lang="en-US" sz="950" spc="-1" strike="noStrike">
                <a:solidFill>
                  <a:srgbClr val="a9b0b8"/>
                </a:solidFill>
                <a:latin typeface="Aptos"/>
              </a:rPr>
              <a:t>Built MS Teams bots and GenAI-powered knowledge transfer tooling for onboarding and operations.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950" spc="-1" strike="noStrike">
                <a:solidFill>
                  <a:srgbClr val="6fae8d"/>
                </a:solidFill>
                <a:latin typeface="Aptos"/>
              </a:rPr>
              <a:t>• </a:t>
            </a:r>
            <a:r>
              <a:rPr b="0" lang="en-US" sz="950" spc="-1" strike="noStrike">
                <a:solidFill>
                  <a:srgbClr val="a9b0b8"/>
                </a:solidFill>
                <a:latin typeface="Aptos"/>
              </a:rPr>
              <a:t>Automated Playwright Tests with Agentic Frameworks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950" spc="-1" strike="noStrike">
                <a:solidFill>
                  <a:srgbClr val="6fae8d"/>
                </a:solidFill>
                <a:latin typeface="Aptos"/>
              </a:rPr>
              <a:t>• </a:t>
            </a:r>
            <a:r>
              <a:rPr b="0" lang="en-US" sz="950" spc="-1" strike="noStrike">
                <a:solidFill>
                  <a:srgbClr val="a9b0b8"/>
                </a:solidFill>
                <a:latin typeface="Aptos"/>
              </a:rPr>
              <a:t>Created and managed CI systems for regression testing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950" spc="-1" strike="noStrike">
                <a:solidFill>
                  <a:srgbClr val="6fae8d"/>
                </a:solidFill>
                <a:latin typeface="Aptos"/>
              </a:rPr>
              <a:t>• </a:t>
            </a:r>
            <a:r>
              <a:rPr b="0" lang="en-US" sz="950" spc="-1" strike="noStrike">
                <a:solidFill>
                  <a:srgbClr val="a9b0b8"/>
                </a:solidFill>
                <a:latin typeface="Aptos"/>
              </a:rPr>
              <a:t>Managed Azure Dev Ops pipeline for seamless merge to release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Box 32"/>
          <p:cNvSpPr/>
          <p:nvPr/>
        </p:nvSpPr>
        <p:spPr>
          <a:xfrm>
            <a:off x="8732520" y="896040"/>
            <a:ext cx="274284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00" spc="-1" strike="noStrike">
                <a:solidFill>
                  <a:srgbClr val="6f7882"/>
                </a:solidFill>
                <a:latin typeface="Aptos"/>
              </a:rPr>
              <a:t>CORE STACK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33"/>
          <p:cNvSpPr/>
          <p:nvPr/>
        </p:nvSpPr>
        <p:spPr>
          <a:xfrm>
            <a:off x="8732520" y="1078920"/>
            <a:ext cx="1366560" cy="13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400"/>
              </a:spcAft>
            </a:pPr>
            <a:r>
              <a:rPr b="1" lang="en-US" sz="1050" spc="-1" strike="noStrike">
                <a:solidFill>
                  <a:srgbClr val="a9b0b8"/>
                </a:solidFill>
                <a:latin typeface="Aptos"/>
              </a:rPr>
              <a:t>Azure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400"/>
              </a:spcAft>
            </a:pPr>
            <a:r>
              <a:rPr b="1" lang="en-US" sz="1050" spc="-1" strike="noStrike">
                <a:solidFill>
                  <a:srgbClr val="a9b0b8"/>
                </a:solidFill>
                <a:latin typeface="Aptos"/>
              </a:rPr>
              <a:t>AWS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400"/>
              </a:spcAft>
            </a:pPr>
            <a:r>
              <a:rPr b="1" lang="en-US" sz="1050" spc="-1" strike="noStrike">
                <a:solidFill>
                  <a:srgbClr val="a9b0b8"/>
                </a:solidFill>
                <a:latin typeface="Aptos"/>
              </a:rPr>
              <a:t>Python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400"/>
              </a:spcAft>
            </a:pPr>
            <a:r>
              <a:rPr b="1" lang="en-US" sz="1050" spc="-1" strike="noStrike">
                <a:solidFill>
                  <a:srgbClr val="a9b0b8"/>
                </a:solidFill>
                <a:latin typeface="Aptos"/>
              </a:rPr>
              <a:t>TypeScript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400"/>
              </a:spcAft>
            </a:pPr>
            <a:r>
              <a:rPr b="1" lang="en-US" sz="1050" spc="-1" strike="noStrike">
                <a:solidFill>
                  <a:srgbClr val="a9b0b8"/>
                </a:solidFill>
                <a:latin typeface="Aptos"/>
              </a:rPr>
              <a:t>React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400"/>
              </a:spcAft>
            </a:pPr>
            <a:r>
              <a:rPr b="1" lang="en-US" sz="1050" spc="-1" strike="noStrike">
                <a:solidFill>
                  <a:srgbClr val="a9b0b8"/>
                </a:solidFill>
                <a:latin typeface="Aptos"/>
              </a:rPr>
              <a:t>Node.js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Box 34"/>
          <p:cNvSpPr/>
          <p:nvPr/>
        </p:nvSpPr>
        <p:spPr>
          <a:xfrm>
            <a:off x="10209240" y="1078920"/>
            <a:ext cx="1366560" cy="13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400"/>
              </a:spcAft>
            </a:pPr>
            <a:r>
              <a:rPr b="1" lang="en-US" sz="1050" spc="-1" strike="noStrike">
                <a:solidFill>
                  <a:srgbClr val="a9b0b8"/>
                </a:solidFill>
                <a:latin typeface="Aptos"/>
              </a:rPr>
              <a:t>Power Automate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400"/>
              </a:spcAft>
            </a:pPr>
            <a:r>
              <a:rPr b="1" lang="en-US" sz="1050" spc="-1" strike="noStrike">
                <a:solidFill>
                  <a:srgbClr val="a9b0b8"/>
                </a:solidFill>
                <a:latin typeface="Aptos"/>
              </a:rPr>
              <a:t>Cloud Operations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400"/>
              </a:spcAft>
            </a:pPr>
            <a:r>
              <a:rPr b="1" lang="en-US" sz="1050" spc="-1" strike="noStrike">
                <a:solidFill>
                  <a:srgbClr val="a9b0b8"/>
                </a:solidFill>
                <a:latin typeface="Aptos"/>
              </a:rPr>
              <a:t>QA Automation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400"/>
              </a:spcAft>
            </a:pPr>
            <a:r>
              <a:rPr b="1" lang="en-US" sz="1050" spc="-1" strike="noStrike">
                <a:solidFill>
                  <a:srgbClr val="a9b0b8"/>
                </a:solidFill>
                <a:latin typeface="Aptos"/>
              </a:rPr>
              <a:t>Runbooks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400"/>
              </a:spcAft>
            </a:pPr>
            <a:r>
              <a:rPr b="1" lang="en-US" sz="1050" spc="-1" strike="noStrike">
                <a:solidFill>
                  <a:srgbClr val="a9b0b8"/>
                </a:solidFill>
                <a:latin typeface="Aptos"/>
              </a:rPr>
              <a:t>Incident Triage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400"/>
              </a:spcAft>
            </a:pPr>
            <a:r>
              <a:rPr b="1" lang="en-US" sz="1050" spc="-1" strike="noStrike">
                <a:solidFill>
                  <a:srgbClr val="a9b0b8"/>
                </a:solidFill>
                <a:latin typeface="Aptos"/>
              </a:rPr>
              <a:t>GenAI Tooling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Box 35"/>
          <p:cNvSpPr/>
          <p:nvPr/>
        </p:nvSpPr>
        <p:spPr>
          <a:xfrm>
            <a:off x="8732520" y="2584800"/>
            <a:ext cx="274284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00" spc="-1" strike="noStrike">
                <a:solidFill>
                  <a:srgbClr val="6f7882"/>
                </a:solidFill>
                <a:latin typeface="Aptos"/>
              </a:rPr>
              <a:t>CERTIFICATIONS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Box 36"/>
          <p:cNvSpPr/>
          <p:nvPr/>
        </p:nvSpPr>
        <p:spPr>
          <a:xfrm>
            <a:off x="8732520" y="2781720"/>
            <a:ext cx="2834280" cy="176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1" lang="en-US" sz="1050" spc="-1" strike="noStrike">
                <a:solidFill>
                  <a:srgbClr val="f3efe7"/>
                </a:solidFill>
                <a:latin typeface="Aptos"/>
              </a:rPr>
              <a:t>Google Professional Cloud DevOps Engineer</a:t>
            </a:r>
            <a:r>
              <a:rPr b="0" lang="en-US" sz="1000" spc="-1" strike="noStrike">
                <a:solidFill>
                  <a:srgbClr val="a9b0b8"/>
                </a:solidFill>
                <a:latin typeface="Aptos"/>
              </a:rPr>
              <a:t>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1" lang="en-US" sz="1050" spc="-1" strike="noStrike">
                <a:solidFill>
                  <a:srgbClr val="f3efe7"/>
                </a:solidFill>
                <a:latin typeface="Aptos"/>
              </a:rPr>
              <a:t>Google Professional Security Operations Engineer</a:t>
            </a:r>
            <a:r>
              <a:rPr b="0" lang="en-US" sz="1000" spc="-1" strike="noStrike">
                <a:solidFill>
                  <a:srgbClr val="a9b0b8"/>
                </a:solidFill>
                <a:latin typeface="Aptos"/>
              </a:rPr>
              <a:t>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1" lang="en-US" sz="1050" spc="-1" strike="noStrike">
                <a:solidFill>
                  <a:srgbClr val="f3efe7"/>
                </a:solidFill>
                <a:latin typeface="Aptos"/>
              </a:rPr>
              <a:t>Google Professional Cloud Architect</a:t>
            </a:r>
            <a:r>
              <a:rPr b="0" lang="en-US" sz="1000" spc="-1" strike="noStrike">
                <a:solidFill>
                  <a:srgbClr val="a9b0b8"/>
                </a:solidFill>
                <a:latin typeface="Aptos"/>
              </a:rPr>
              <a:t>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1" lang="en-US" sz="1050" spc="-1" strike="noStrike">
                <a:solidFill>
                  <a:srgbClr val="f3efe7"/>
                </a:solidFill>
                <a:latin typeface="Aptos"/>
              </a:rPr>
              <a:t>Google Generative AI Leader</a:t>
            </a:r>
            <a:r>
              <a:rPr b="0" lang="en-US" sz="1000" spc="-1" strike="noStrike">
                <a:solidFill>
                  <a:srgbClr val="a9b0b8"/>
                </a:solidFill>
                <a:latin typeface="Aptos"/>
              </a:rPr>
              <a:t>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1" lang="en-US" sz="1050" spc="-1" strike="noStrike">
                <a:solidFill>
                  <a:srgbClr val="f3efe7"/>
                </a:solidFill>
                <a:latin typeface="Aptos"/>
              </a:rPr>
              <a:t>Azure Developer / AI Fundamentals / Azure Fundamentals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1" lang="en-US" sz="1050" spc="-1" strike="noStrike">
                <a:solidFill>
                  <a:srgbClr val="f3efe7"/>
                </a:solidFill>
                <a:latin typeface="Aptos"/>
              </a:rPr>
              <a:t>AWS Certified Cloud  Practitioner</a:t>
            </a:r>
            <a:r>
              <a:rPr b="0" lang="en-US" sz="1000" spc="-1" strike="noStrike">
                <a:solidFill>
                  <a:srgbClr val="a9b0b8"/>
                </a:solidFill>
                <a:latin typeface="Aptos"/>
              </a:rPr>
              <a:t>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Box 37"/>
          <p:cNvSpPr/>
          <p:nvPr/>
        </p:nvSpPr>
        <p:spPr>
          <a:xfrm>
            <a:off x="8732520" y="4870800"/>
            <a:ext cx="274284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00" spc="-1" strike="noStrike">
                <a:solidFill>
                  <a:srgbClr val="6f7882"/>
                </a:solidFill>
                <a:latin typeface="Aptos"/>
              </a:rPr>
              <a:t>HIGHLIGHTS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Box 38"/>
          <p:cNvSpPr/>
          <p:nvPr/>
        </p:nvSpPr>
        <p:spPr>
          <a:xfrm>
            <a:off x="8732520" y="5105520"/>
            <a:ext cx="2880000" cy="12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400"/>
              </a:spcAft>
            </a:pPr>
            <a:r>
              <a:rPr b="1" lang="en-US" sz="1000" spc="-1" strike="noStrike">
                <a:solidFill>
                  <a:srgbClr val="6fae8d"/>
                </a:solidFill>
                <a:latin typeface="Aptos"/>
              </a:rPr>
              <a:t>• </a:t>
            </a:r>
            <a:r>
              <a:rPr b="0" lang="en-US" sz="960" spc="-1" strike="noStrike">
                <a:solidFill>
                  <a:srgbClr val="a9b0b8"/>
                </a:solidFill>
                <a:latin typeface="Aptos"/>
              </a:rPr>
              <a:t>4+ years across transportation, banking, and IT.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400"/>
              </a:spcAft>
            </a:pPr>
            <a:r>
              <a:rPr b="1" lang="en-US" sz="1000" spc="-1" strike="noStrike">
                <a:solidFill>
                  <a:srgbClr val="6fae8d"/>
                </a:solidFill>
                <a:latin typeface="Aptos"/>
              </a:rPr>
              <a:t>• </a:t>
            </a:r>
            <a:r>
              <a:rPr b="0" lang="en-US" sz="960" spc="-1" strike="noStrike">
                <a:solidFill>
                  <a:srgbClr val="a9b0b8"/>
                </a:solidFill>
                <a:latin typeface="Aptos"/>
              </a:rPr>
              <a:t>70% documentation time reduction via automation.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400"/>
              </a:spcAft>
            </a:pPr>
            <a:r>
              <a:rPr b="1" lang="en-US" sz="1000" spc="-1" strike="noStrike">
                <a:solidFill>
                  <a:srgbClr val="6fae8d"/>
                </a:solidFill>
                <a:latin typeface="Aptos"/>
              </a:rPr>
              <a:t>• </a:t>
            </a:r>
            <a:r>
              <a:rPr b="0" lang="en-US" sz="960" spc="-1" strike="noStrike">
                <a:solidFill>
                  <a:srgbClr val="a9b0b8"/>
                </a:solidFill>
                <a:latin typeface="Aptos"/>
              </a:rPr>
              <a:t>40% testing efficiency improvement.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400"/>
              </a:spcAft>
            </a:pPr>
            <a:r>
              <a:rPr b="1" lang="en-US" sz="1000" spc="-1" strike="noStrike">
                <a:solidFill>
                  <a:srgbClr val="6fae8d"/>
                </a:solidFill>
                <a:latin typeface="Aptos"/>
              </a:rPr>
              <a:t>• </a:t>
            </a:r>
            <a:r>
              <a:rPr b="0" lang="en-US" sz="960" spc="-1" strike="noStrike">
                <a:solidFill>
                  <a:srgbClr val="a9b0b8"/>
                </a:solidFill>
                <a:latin typeface="Aptos"/>
              </a:rPr>
              <a:t>Portfolio: binasoy.kim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400"/>
              </a:spcAft>
            </a:pPr>
            <a:r>
              <a:rPr b="1" lang="en-US" sz="1000" spc="-1" strike="noStrike">
                <a:solidFill>
                  <a:srgbClr val="6fae8d"/>
                </a:solidFill>
                <a:latin typeface="Aptos"/>
              </a:rPr>
              <a:t>• </a:t>
            </a:r>
            <a:r>
              <a:rPr b="0" lang="en-US" sz="960" spc="-1" strike="noStrike">
                <a:solidFill>
                  <a:srgbClr val="a9b0b8"/>
                </a:solidFill>
                <a:latin typeface="Aptos"/>
              </a:rPr>
              <a:t>Publication: relearn.ing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Rectangle 1"/>
          <p:cNvSpPr/>
          <p:nvPr/>
        </p:nvSpPr>
        <p:spPr>
          <a:xfrm>
            <a:off x="3657600" y="3886200"/>
            <a:ext cx="36720" cy="2057400"/>
          </a:xfrm>
          <a:prstGeom prst="rect">
            <a:avLst/>
          </a:prstGeom>
          <a:solidFill>
            <a:srgbClr val="729fc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2026-04-23T01:34:37Z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