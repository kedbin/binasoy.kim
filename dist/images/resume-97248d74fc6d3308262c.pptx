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86" r:id="rId4"/>
  </p:sldMasterIdLst>
  <p:notesMasterIdLst>
    <p:notesMasterId r:id="rId6"/>
  </p:notesMasterIdLst>
  <p:handoutMasterIdLst>
    <p:handoutMasterId r:id="rId7"/>
  </p:handoutMasterIdLst>
  <p:sldIdLst>
    <p:sldId id="2146849393" r:id="rId5"/>
  </p:sldIdLst>
  <p:sldSz cx="12192000" cy="6858000"/>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ECEAA3CF-2ABA-4FD0-9CF2-DB1F9D44106A}">
          <p14:sldIdLst>
            <p14:sldId id="214684939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l-Ardah, Ahmad J." initials="AAJ" lastIdx="1" clrIdx="6">
    <p:extLst>
      <p:ext uri="{19B8F6BF-5375-455C-9EA6-DF929625EA0E}">
        <p15:presenceInfo xmlns:p15="http://schemas.microsoft.com/office/powerpoint/2012/main" userId="S::ahmad.j.al-ardah@accenture.com::ea06f5c4-3be1-43bb-8996-cacf2e8f9846" providerId="AD"/>
      </p:ext>
    </p:extLst>
  </p:cmAuthor>
  <p:cmAuthor id="1" name="Kulbis, Ruta" initials="KR" lastIdx="5" clrIdx="0">
    <p:extLst>
      <p:ext uri="{19B8F6BF-5375-455C-9EA6-DF929625EA0E}">
        <p15:presenceInfo xmlns:p15="http://schemas.microsoft.com/office/powerpoint/2012/main" userId="S::ruta.kulbis@accenture.com::789af1e5-15a6-4b63-b7ef-7164b7bec22f" providerId="AD"/>
      </p:ext>
    </p:extLst>
  </p:cmAuthor>
  <p:cmAuthor id="8" name="Abubacker, Shahul H." initials="ASH" lastIdx="1" clrIdx="7">
    <p:extLst>
      <p:ext uri="{19B8F6BF-5375-455C-9EA6-DF929625EA0E}">
        <p15:presenceInfo xmlns:p15="http://schemas.microsoft.com/office/powerpoint/2012/main" userId="S::shahul.h.abubacker@accenture.com::7f47301b-40b3-4fe3-ab8e-7a13e433e6e1" providerId="AD"/>
      </p:ext>
    </p:extLst>
  </p:cmAuthor>
  <p:cmAuthor id="2" name="Sandoli, Genevieve" initials="SG" lastIdx="4" clrIdx="1">
    <p:extLst>
      <p:ext uri="{19B8F6BF-5375-455C-9EA6-DF929625EA0E}">
        <p15:presenceInfo xmlns:p15="http://schemas.microsoft.com/office/powerpoint/2012/main" userId="S::genevieve.sandoli@accenture.com::bb20f061-8aac-413e-b75a-b6d18c43206a" providerId="AD"/>
      </p:ext>
    </p:extLst>
  </p:cmAuthor>
  <p:cmAuthor id="9" name="Dhanjal, Sarbjit" initials="DS" lastIdx="2" clrIdx="8">
    <p:extLst>
      <p:ext uri="{19B8F6BF-5375-455C-9EA6-DF929625EA0E}">
        <p15:presenceInfo xmlns:p15="http://schemas.microsoft.com/office/powerpoint/2012/main" userId="S::sarbjit.dhanjal@accenture.com::bead8fe0-1eb4-431a-ab86-95a23bf5b853" providerId="AD"/>
      </p:ext>
    </p:extLst>
  </p:cmAuthor>
  <p:cmAuthor id="3" name="Author" initials="A" lastIdx="4" clrIdx="2"/>
  <p:cmAuthor id="10" name="Dhanjal, Sarbjit" initials="DS [2]" lastIdx="1" clrIdx="9">
    <p:extLst>
      <p:ext uri="{19B8F6BF-5375-455C-9EA6-DF929625EA0E}">
        <p15:presenceInfo xmlns:p15="http://schemas.microsoft.com/office/powerpoint/2012/main" userId="S::sarbjit.dhanjal@accenture.com::d5052fab-5c8f-4d3a-9fa4-e0c677a208e9" providerId="AD"/>
      </p:ext>
    </p:extLst>
  </p:cmAuthor>
  <p:cmAuthor id="4" name="Lindstrom, Jennifer" initials="LJ" lastIdx="5" clrIdx="3">
    <p:extLst>
      <p:ext uri="{19B8F6BF-5375-455C-9EA6-DF929625EA0E}">
        <p15:presenceInfo xmlns:p15="http://schemas.microsoft.com/office/powerpoint/2012/main" userId="S::jennifer.lindstrom@accenture.com::506c6968-e6f9-44d1-99ae-74cfc689023e" providerId="AD"/>
      </p:ext>
    </p:extLst>
  </p:cmAuthor>
  <p:cmAuthor id="11" name="Ng, Christina A." initials="NCA" lastIdx="2" clrIdx="10">
    <p:extLst>
      <p:ext uri="{19B8F6BF-5375-455C-9EA6-DF929625EA0E}">
        <p15:presenceInfo xmlns:p15="http://schemas.microsoft.com/office/powerpoint/2012/main" userId="S::christina.a.ng@accenture.com::854ef722-dc1b-4710-bb2b-066c35181675" providerId="AD"/>
      </p:ext>
    </p:extLst>
  </p:cmAuthor>
  <p:cmAuthor id="5" name="Kulbis, Ruta" initials="KR [2]" lastIdx="15" clrIdx="4">
    <p:extLst>
      <p:ext uri="{19B8F6BF-5375-455C-9EA6-DF929625EA0E}">
        <p15:presenceInfo xmlns:p15="http://schemas.microsoft.com/office/powerpoint/2012/main" userId="S-1-5-21-329068152-1454471165-1417001333-62074" providerId="AD"/>
      </p:ext>
    </p:extLst>
  </p:cmAuthor>
  <p:cmAuthor id="6" name="Chaudhury, Hana" initials="CH" lastIdx="1" clrIdx="5">
    <p:extLst>
      <p:ext uri="{19B8F6BF-5375-455C-9EA6-DF929625EA0E}">
        <p15:presenceInfo xmlns:p15="http://schemas.microsoft.com/office/powerpoint/2012/main" userId="S-1-5-21-329068152-1454471165-1417001333-74911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92D050"/>
    <a:srgbClr val="FF9999"/>
    <a:srgbClr val="DDDDDD"/>
    <a:srgbClr val="53B847"/>
    <a:srgbClr val="0AB212"/>
    <a:srgbClr val="007E18"/>
    <a:srgbClr val="009E1E"/>
    <a:srgbClr val="000000"/>
    <a:srgbClr val="004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80" autoAdjust="0"/>
    <p:restoredTop sz="96224" autoAdjust="0"/>
  </p:normalViewPr>
  <p:slideViewPr>
    <p:cSldViewPr snapToGrid="0">
      <p:cViewPr varScale="1">
        <p:scale>
          <a:sx n="74" d="100"/>
          <a:sy n="74" d="100"/>
        </p:scale>
        <p:origin x="6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A32A2D-9B74-EC44-9471-B9A92426B4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C198B98-79FC-524F-A14A-4F9412BDD7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63ABC4-AA45-8341-9809-02894C759397}" type="datetimeFigureOut">
              <a:rPr lang="en-US" smtClean="0"/>
              <a:t>1/12/2026</a:t>
            </a:fld>
            <a:endParaRPr lang="en-US"/>
          </a:p>
        </p:txBody>
      </p:sp>
      <p:sp>
        <p:nvSpPr>
          <p:cNvPr id="4" name="Footer Placeholder 3">
            <a:extLst>
              <a:ext uri="{FF2B5EF4-FFF2-40B4-BE49-F238E27FC236}">
                <a16:creationId xmlns:a16="http://schemas.microsoft.com/office/drawing/2014/main" id="{6D1C4037-0918-BE4B-88BC-27E3E85B2A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7D1D682-6475-D642-B89D-004A9FD53A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2A1067-0E76-1146-A3C4-A6127CAB59E0}" type="slidenum">
              <a:rPr lang="en-US" smtClean="0"/>
              <a:t>‹#›</a:t>
            </a:fld>
            <a:endParaRPr lang="en-US"/>
          </a:p>
        </p:txBody>
      </p:sp>
    </p:spTree>
    <p:extLst>
      <p:ext uri="{BB962C8B-B14F-4D97-AF65-F5344CB8AC3E}">
        <p14:creationId xmlns:p14="http://schemas.microsoft.com/office/powerpoint/2010/main" val="9160932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3" name="Shape 123"/>
          <p:cNvSpPr>
            <a:spLocks noGrp="1" noRot="1" noChangeAspect="1"/>
          </p:cNvSpPr>
          <p:nvPr>
            <p:ph type="sldImg"/>
          </p:nvPr>
        </p:nvSpPr>
        <p:spPr>
          <a:xfrm>
            <a:off x="1143000" y="685800"/>
            <a:ext cx="4572000" cy="3429000"/>
          </a:xfrm>
          <a:prstGeom prst="rect">
            <a:avLst/>
          </a:prstGeom>
        </p:spPr>
        <p:txBody>
          <a:bodyPr/>
          <a:lstStyle/>
          <a:p>
            <a:endParaRPr/>
          </a:p>
        </p:txBody>
      </p:sp>
      <p:sp>
        <p:nvSpPr>
          <p:cNvPr id="124" name="Shape 12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hdr="0" ftr="0" dt="0"/>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E"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1</a:t>
            </a:fld>
            <a:endParaRPr lang="en-US"/>
          </a:p>
        </p:txBody>
      </p:sp>
    </p:spTree>
    <p:extLst>
      <p:ext uri="{BB962C8B-B14F-4D97-AF65-F5344CB8AC3E}">
        <p14:creationId xmlns:p14="http://schemas.microsoft.com/office/powerpoint/2010/main" val="1702586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bwMode="auto">
          <a:xfrm>
            <a:off x="345018" y="332076"/>
            <a:ext cx="10456332" cy="776139"/>
          </a:xfrm>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4680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w/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72838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Google Shape;172;p25">
            <a:extLst>
              <a:ext uri="{FF2B5EF4-FFF2-40B4-BE49-F238E27FC236}">
                <a16:creationId xmlns:a16="http://schemas.microsoft.com/office/drawing/2014/main" id="{37479E8C-8750-4F63-94C8-AF018E824E78}"/>
              </a:ext>
            </a:extLst>
          </p:cNvPr>
          <p:cNvPicPr preferRelativeResize="0"/>
          <p:nvPr userDrawn="1"/>
        </p:nvPicPr>
        <p:blipFill rotWithShape="1">
          <a:blip r:embed="rId2" cstate="screen">
            <a:alphaModFix/>
            <a:duotone>
              <a:prstClr val="black"/>
              <a:schemeClr val="accent3">
                <a:tint val="45000"/>
                <a:satMod val="400000"/>
              </a:schemeClr>
            </a:duotone>
            <a:extLst>
              <a:ext uri="{28A0092B-C50C-407E-A947-70E740481C1C}">
                <a14:useLocalDpi xmlns:a14="http://schemas.microsoft.com/office/drawing/2010/main"/>
              </a:ext>
            </a:extLst>
          </a:blip>
          <a:srcRect l="25039"/>
          <a:stretch/>
        </p:blipFill>
        <p:spPr bwMode="auto">
          <a:xfrm>
            <a:off x="0" y="0"/>
            <a:ext cx="4935166" cy="6858000"/>
          </a:xfrm>
          <a:prstGeom prst="rect">
            <a:avLst/>
          </a:prstGeom>
          <a:noFill/>
          <a:ln>
            <a:noFill/>
          </a:ln>
        </p:spPr>
      </p:pic>
      <p:sp>
        <p:nvSpPr>
          <p:cNvPr id="4" name="Rectangle 3">
            <a:extLst>
              <a:ext uri="{FF2B5EF4-FFF2-40B4-BE49-F238E27FC236}">
                <a16:creationId xmlns:a16="http://schemas.microsoft.com/office/drawing/2014/main" id="{8F166C61-3381-499E-94B3-1C817D04B9FC}"/>
              </a:ext>
            </a:extLst>
          </p:cNvPr>
          <p:cNvSpPr/>
          <p:nvPr userDrawn="1"/>
        </p:nvSpPr>
        <p:spPr bwMode="auto">
          <a:xfrm>
            <a:off x="29527" y="5379"/>
            <a:ext cx="4905639" cy="6858000"/>
          </a:xfrm>
          <a:prstGeom prst="rect">
            <a:avLst/>
          </a:prstGeom>
          <a:solidFill>
            <a:schemeClr val="tx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2AA6B9D-1A4B-4CAD-9F61-FCBBE1E69CE5}"/>
              </a:ext>
            </a:extLst>
          </p:cNvPr>
          <p:cNvSpPr>
            <a:spLocks noGrp="1"/>
          </p:cNvSpPr>
          <p:nvPr>
            <p:ph type="title"/>
          </p:nvPr>
        </p:nvSpPr>
        <p:spPr bwMode="auto">
          <a:xfrm>
            <a:off x="384773" y="431467"/>
            <a:ext cx="4157409" cy="2103011"/>
          </a:xfrm>
        </p:spPr>
        <p:txBody>
          <a:bodyPr/>
          <a:lstStyle>
            <a:lvl1pPr>
              <a:defRPr>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A0F34D7A-762B-4182-871A-691D7A2F58DB}"/>
              </a:ext>
            </a:extLst>
          </p:cNvPr>
          <p:cNvSpPr/>
          <p:nvPr userDrawn="1"/>
        </p:nvSpPr>
        <p:spPr bwMode="auto">
          <a:xfrm>
            <a:off x="4935167" y="0"/>
            <a:ext cx="45719" cy="686337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47375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 column">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296863"/>
            <a:ext cx="6972580" cy="1508288"/>
          </a:xfrm>
          <a:prstGeom prst="rect">
            <a:avLst/>
          </a:prstGeom>
        </p:spPr>
        <p:txBody>
          <a:bodyPr wrap="square" lIns="0" tIns="0" rIns="0" bIns="0" anchor="b">
            <a:noAutofit/>
          </a:bodyPr>
          <a:lstStyle>
            <a:lvl1pPr>
              <a:lnSpc>
                <a:spcPct val="90000"/>
              </a:lnSpc>
              <a:defRPr sz="4400" b="0">
                <a:latin typeface="Graphik Semibold" panose="020B0703030202060203" pitchFamily="34" charset="0"/>
              </a:defRPr>
            </a:lvl1pPr>
          </a:lstStyle>
          <a:p>
            <a:pPr lvl="0"/>
            <a:r>
              <a:rPr lang="en-US"/>
              <a:t>Title goes here</a:t>
            </a:r>
          </a:p>
        </p:txBody>
      </p:sp>
      <p:sp>
        <p:nvSpPr>
          <p:cNvPr id="12" name="Text Placeholder 41">
            <a:extLst>
              <a:ext uri="{FF2B5EF4-FFF2-40B4-BE49-F238E27FC236}">
                <a16:creationId xmlns:a16="http://schemas.microsoft.com/office/drawing/2014/main" id="{B46C82F8-415D-4579-98D7-7DB62DA7C231}"/>
              </a:ext>
            </a:extLst>
          </p:cNvPr>
          <p:cNvSpPr>
            <a:spLocks noGrp="1"/>
          </p:cNvSpPr>
          <p:nvPr>
            <p:ph type="body" sz="quarter" idx="16"/>
          </p:nvPr>
        </p:nvSpPr>
        <p:spPr>
          <a:xfrm>
            <a:off x="442913" y="2617271"/>
            <a:ext cx="2727007" cy="2526229"/>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
        <p:nvSpPr>
          <p:cNvPr id="8" name="Text Placeholder 41">
            <a:extLst>
              <a:ext uri="{FF2B5EF4-FFF2-40B4-BE49-F238E27FC236}">
                <a16:creationId xmlns:a16="http://schemas.microsoft.com/office/drawing/2014/main" id="{15897A3E-69DA-4472-BFC4-CAF67273D594}"/>
              </a:ext>
            </a:extLst>
          </p:cNvPr>
          <p:cNvSpPr>
            <a:spLocks noGrp="1"/>
          </p:cNvSpPr>
          <p:nvPr>
            <p:ph type="body" sz="quarter" idx="17"/>
          </p:nvPr>
        </p:nvSpPr>
        <p:spPr>
          <a:xfrm>
            <a:off x="3742373" y="2617271"/>
            <a:ext cx="2727007" cy="2526229"/>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
        <p:nvSpPr>
          <p:cNvPr id="9" name="Text Placeholder 41">
            <a:extLst>
              <a:ext uri="{FF2B5EF4-FFF2-40B4-BE49-F238E27FC236}">
                <a16:creationId xmlns:a16="http://schemas.microsoft.com/office/drawing/2014/main" id="{DA4638FA-D9D1-4F58-A527-11F80A7B38CC}"/>
              </a:ext>
            </a:extLst>
          </p:cNvPr>
          <p:cNvSpPr>
            <a:spLocks noGrp="1"/>
          </p:cNvSpPr>
          <p:nvPr>
            <p:ph type="body" sz="quarter" idx="18"/>
          </p:nvPr>
        </p:nvSpPr>
        <p:spPr>
          <a:xfrm>
            <a:off x="7041833" y="2617271"/>
            <a:ext cx="2727007" cy="2526229"/>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50614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userDrawn="1">
  <p:cSld name="Section header">
    <p:spTree>
      <p:nvGrpSpPr>
        <p:cNvPr id="1" name="Shape 13"/>
        <p:cNvGrpSpPr/>
        <p:nvPr/>
      </p:nvGrpSpPr>
      <p:grpSpPr>
        <a:xfrm>
          <a:off x="0" y="0"/>
          <a:ext cx="0" cy="0"/>
          <a:chOff x="0" y="0"/>
          <a:chExt cx="0" cy="0"/>
        </a:xfrm>
      </p:grpSpPr>
      <p:cxnSp>
        <p:nvCxnSpPr>
          <p:cNvPr id="6" name="Google Shape;368;p68">
            <a:extLst>
              <a:ext uri="{FF2B5EF4-FFF2-40B4-BE49-F238E27FC236}">
                <a16:creationId xmlns:a16="http://schemas.microsoft.com/office/drawing/2014/main" id="{2A29FE94-5B79-4785-A959-B524CCA8A89A}"/>
              </a:ext>
            </a:extLst>
          </p:cNvPr>
          <p:cNvCxnSpPr/>
          <p:nvPr userDrawn="1"/>
        </p:nvCxnSpPr>
        <p:spPr>
          <a:xfrm>
            <a:off x="257175" y="6336675"/>
            <a:ext cx="259600" cy="0"/>
          </a:xfrm>
          <a:prstGeom prst="straightConnector1">
            <a:avLst/>
          </a:prstGeom>
          <a:noFill/>
          <a:ln w="9525" cap="flat" cmpd="sng">
            <a:solidFill>
              <a:srgbClr val="000000"/>
            </a:solidFill>
            <a:prstDash val="solid"/>
            <a:round/>
            <a:headEnd type="none" w="med" len="med"/>
            <a:tailEnd type="none" w="med" len="med"/>
          </a:ln>
        </p:spPr>
      </p:cxnSp>
      <p:sp>
        <p:nvSpPr>
          <p:cNvPr id="7" name="Google Shape;369;p68">
            <a:extLst>
              <a:ext uri="{FF2B5EF4-FFF2-40B4-BE49-F238E27FC236}">
                <a16:creationId xmlns:a16="http://schemas.microsoft.com/office/drawing/2014/main" id="{26B85593-0996-4323-A48E-389C3CFD8B68}"/>
              </a:ext>
            </a:extLst>
          </p:cNvPr>
          <p:cNvSpPr txBox="1">
            <a:spLocks/>
          </p:cNvSpPr>
          <p:nvPr userDrawn="1"/>
        </p:nvSpPr>
        <p:spPr>
          <a:xfrm>
            <a:off x="225619" y="6489947"/>
            <a:ext cx="156000" cy="151200"/>
          </a:xfrm>
          <a:prstGeom prst="rect">
            <a:avLst/>
          </a:prstGeom>
          <a:noFill/>
          <a:ln>
            <a:noFill/>
          </a:ln>
        </p:spPr>
        <p:txBody>
          <a:bodyPr spcFirstLastPara="1" wrap="square" lIns="25400" tIns="25400" rIns="25400" bIns="25400"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lgn="l">
              <a:buClr>
                <a:srgbClr val="FFFFFF"/>
              </a:buClr>
              <a:buSzPts val="600"/>
            </a:pPr>
            <a:r>
              <a:rPr lang="en-US" sz="667" b="1">
                <a:solidFill>
                  <a:srgbClr val="000000"/>
                </a:solidFill>
                <a:latin typeface="Helvetica Neue"/>
                <a:ea typeface="Helvetica Neue"/>
                <a:cs typeface="Helvetica Neue"/>
                <a:sym typeface="Helvetica Neue"/>
              </a:rPr>
              <a:t>P.</a:t>
            </a:r>
          </a:p>
        </p:txBody>
      </p:sp>
      <p:cxnSp>
        <p:nvCxnSpPr>
          <p:cNvPr id="8" name="Google Shape;370;p68">
            <a:extLst>
              <a:ext uri="{FF2B5EF4-FFF2-40B4-BE49-F238E27FC236}">
                <a16:creationId xmlns:a16="http://schemas.microsoft.com/office/drawing/2014/main" id="{1F1502CE-A35E-49F5-B572-7199912C832D}"/>
              </a:ext>
            </a:extLst>
          </p:cNvPr>
          <p:cNvCxnSpPr/>
          <p:nvPr userDrawn="1"/>
        </p:nvCxnSpPr>
        <p:spPr>
          <a:xfrm>
            <a:off x="616363" y="6336675"/>
            <a:ext cx="515200" cy="0"/>
          </a:xfrm>
          <a:prstGeom prst="straightConnector1">
            <a:avLst/>
          </a:prstGeom>
          <a:noFill/>
          <a:ln w="9525" cap="flat" cmpd="sng">
            <a:solidFill>
              <a:srgbClr val="000000"/>
            </a:solidFill>
            <a:prstDash val="solid"/>
            <a:round/>
            <a:headEnd type="none" w="med" len="med"/>
            <a:tailEnd type="none" w="med" len="med"/>
          </a:ln>
        </p:spPr>
      </p:cxnSp>
      <p:cxnSp>
        <p:nvCxnSpPr>
          <p:cNvPr id="9" name="Google Shape;371;p68">
            <a:extLst>
              <a:ext uri="{FF2B5EF4-FFF2-40B4-BE49-F238E27FC236}">
                <a16:creationId xmlns:a16="http://schemas.microsoft.com/office/drawing/2014/main" id="{38490377-DFAD-40FA-AF8F-B4BAD0854426}"/>
              </a:ext>
            </a:extLst>
          </p:cNvPr>
          <p:cNvCxnSpPr/>
          <p:nvPr userDrawn="1"/>
        </p:nvCxnSpPr>
        <p:spPr>
          <a:xfrm>
            <a:off x="1230324" y="6336675"/>
            <a:ext cx="10714400" cy="0"/>
          </a:xfrm>
          <a:prstGeom prst="straightConnector1">
            <a:avLst/>
          </a:prstGeom>
          <a:noFill/>
          <a:ln w="9525" cap="flat" cmpd="sng">
            <a:solidFill>
              <a:srgbClr val="000000"/>
            </a:solidFill>
            <a:prstDash val="solid"/>
            <a:round/>
            <a:headEnd type="none" w="med" len="med"/>
            <a:tailEnd type="none" w="med" len="med"/>
          </a:ln>
        </p:spPr>
      </p:cxnSp>
      <p:sp>
        <p:nvSpPr>
          <p:cNvPr id="10" name="Google Shape;372;p68">
            <a:extLst>
              <a:ext uri="{FF2B5EF4-FFF2-40B4-BE49-F238E27FC236}">
                <a16:creationId xmlns:a16="http://schemas.microsoft.com/office/drawing/2014/main" id="{81392D8D-4FD9-4946-87B0-CC5D73D871EE}"/>
              </a:ext>
            </a:extLst>
          </p:cNvPr>
          <p:cNvSpPr txBox="1">
            <a:spLocks/>
          </p:cNvSpPr>
          <p:nvPr userDrawn="1"/>
        </p:nvSpPr>
        <p:spPr>
          <a:xfrm>
            <a:off x="1218292" y="6489947"/>
            <a:ext cx="10714400" cy="151200"/>
          </a:xfrm>
          <a:prstGeom prst="rect">
            <a:avLst/>
          </a:prstGeom>
          <a:noFill/>
          <a:ln>
            <a:noFill/>
          </a:ln>
        </p:spPr>
        <p:txBody>
          <a:bodyPr spcFirstLastPara="1" wrap="square" lIns="25400" tIns="25400" rIns="25400" bIns="25400"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lgn="l">
              <a:buClr>
                <a:schemeClr val="lt1"/>
              </a:buClr>
              <a:buSzPts val="600"/>
            </a:pPr>
            <a:r>
              <a:rPr lang="en-US" sz="667">
                <a:solidFill>
                  <a:srgbClr val="000000"/>
                </a:solidFill>
                <a:latin typeface="Helvetica Neue"/>
                <a:ea typeface="Helvetica Neue"/>
                <a:cs typeface="Helvetica Neue"/>
                <a:sym typeface="Helvetica Neue"/>
              </a:rPr>
              <a:t>TD</a:t>
            </a:r>
          </a:p>
        </p:txBody>
      </p:sp>
      <p:pic>
        <p:nvPicPr>
          <p:cNvPr id="12" name="Google Shape;375;p68" descr="Image">
            <a:extLst>
              <a:ext uri="{FF2B5EF4-FFF2-40B4-BE49-F238E27FC236}">
                <a16:creationId xmlns:a16="http://schemas.microsoft.com/office/drawing/2014/main" id="{277A0558-14A3-48B2-B24F-F2D4454AC729}"/>
              </a:ext>
            </a:extLst>
          </p:cNvPr>
          <p:cNvPicPr preferRelativeResize="0"/>
          <p:nvPr userDrawn="1"/>
        </p:nvPicPr>
        <p:blipFill rotWithShape="1">
          <a:blip r:embed="rId2">
            <a:alphaModFix/>
          </a:blip>
          <a:srcRect/>
          <a:stretch/>
        </p:blipFill>
        <p:spPr>
          <a:xfrm>
            <a:off x="818305" y="6515825"/>
            <a:ext cx="111316" cy="99447"/>
          </a:xfrm>
          <a:prstGeom prst="rect">
            <a:avLst/>
          </a:prstGeom>
          <a:noFill/>
          <a:ln>
            <a:noFill/>
          </a:ln>
        </p:spPr>
      </p:pic>
      <p:sp>
        <p:nvSpPr>
          <p:cNvPr id="17" name="Title 16">
            <a:extLst>
              <a:ext uri="{FF2B5EF4-FFF2-40B4-BE49-F238E27FC236}">
                <a16:creationId xmlns:a16="http://schemas.microsoft.com/office/drawing/2014/main" id="{890F00FD-5995-448A-8BD6-3C3331B31B17}"/>
              </a:ext>
            </a:extLst>
          </p:cNvPr>
          <p:cNvSpPr>
            <a:spLocks noGrp="1"/>
          </p:cNvSpPr>
          <p:nvPr>
            <p:ph type="title"/>
          </p:nvPr>
        </p:nvSpPr>
        <p:spPr>
          <a:xfrm>
            <a:off x="405000" y="930892"/>
            <a:ext cx="10235288" cy="776139"/>
          </a:xfrm>
        </p:spPr>
        <p:txBody>
          <a:bodyPr/>
          <a:lstStyle>
            <a:lvl1pPr>
              <a:defRPr sz="2667" b="1">
                <a:latin typeface="Helvetica Neue" panose="020B0604020202020204" charset="0"/>
              </a:defRPr>
            </a:lvl1pPr>
          </a:lstStyle>
          <a:p>
            <a:r>
              <a:rPr lang="en-US"/>
              <a:t>Click to edit Master title style</a:t>
            </a:r>
          </a:p>
        </p:txBody>
      </p:sp>
      <p:sp>
        <p:nvSpPr>
          <p:cNvPr id="20" name="Rectangle: Rounded Corners 19">
            <a:extLst>
              <a:ext uri="{FF2B5EF4-FFF2-40B4-BE49-F238E27FC236}">
                <a16:creationId xmlns:a16="http://schemas.microsoft.com/office/drawing/2014/main" id="{DEC22068-05B9-454E-AC8D-D3E9B52D9EB2}"/>
              </a:ext>
            </a:extLst>
          </p:cNvPr>
          <p:cNvSpPr/>
          <p:nvPr userDrawn="1"/>
        </p:nvSpPr>
        <p:spPr>
          <a:xfrm>
            <a:off x="-529367" y="4037"/>
            <a:ext cx="365760" cy="365760"/>
          </a:xfrm>
          <a:prstGeom prst="roundRect">
            <a:avLst/>
          </a:prstGeom>
          <a:solidFill>
            <a:srgbClr val="EA20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Rounded Corners 20">
            <a:extLst>
              <a:ext uri="{FF2B5EF4-FFF2-40B4-BE49-F238E27FC236}">
                <a16:creationId xmlns:a16="http://schemas.microsoft.com/office/drawing/2014/main" id="{2F4A2C8E-17EB-4545-B2E7-292D1EDC2BB8}"/>
              </a:ext>
            </a:extLst>
          </p:cNvPr>
          <p:cNvSpPr/>
          <p:nvPr userDrawn="1"/>
        </p:nvSpPr>
        <p:spPr>
          <a:xfrm>
            <a:off x="-529367" y="565132"/>
            <a:ext cx="365760" cy="365760"/>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Rounded Corners 21">
            <a:extLst>
              <a:ext uri="{FF2B5EF4-FFF2-40B4-BE49-F238E27FC236}">
                <a16:creationId xmlns:a16="http://schemas.microsoft.com/office/drawing/2014/main" id="{9ED69944-5C6F-4C2E-AE39-ED3A22BFE011}"/>
              </a:ext>
            </a:extLst>
          </p:cNvPr>
          <p:cNvSpPr/>
          <p:nvPr userDrawn="1"/>
        </p:nvSpPr>
        <p:spPr>
          <a:xfrm>
            <a:off x="-529367" y="1126227"/>
            <a:ext cx="365760" cy="365760"/>
          </a:xfrm>
          <a:prstGeom prst="roundRect">
            <a:avLst/>
          </a:prstGeom>
          <a:solidFill>
            <a:srgbClr val="606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Rectangle: Rounded Corners 22">
            <a:extLst>
              <a:ext uri="{FF2B5EF4-FFF2-40B4-BE49-F238E27FC236}">
                <a16:creationId xmlns:a16="http://schemas.microsoft.com/office/drawing/2014/main" id="{7C072ED8-128F-4286-B411-6BE785BDA6B1}"/>
              </a:ext>
            </a:extLst>
          </p:cNvPr>
          <p:cNvSpPr/>
          <p:nvPr userDrawn="1"/>
        </p:nvSpPr>
        <p:spPr>
          <a:xfrm>
            <a:off x="-529367" y="2248416"/>
            <a:ext cx="365760" cy="365760"/>
          </a:xfrm>
          <a:prstGeom prst="roundRect">
            <a:avLst/>
          </a:prstGeom>
          <a:solidFill>
            <a:srgbClr val="009E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ectangle: Rounded Corners 23">
            <a:extLst>
              <a:ext uri="{FF2B5EF4-FFF2-40B4-BE49-F238E27FC236}">
                <a16:creationId xmlns:a16="http://schemas.microsoft.com/office/drawing/2014/main" id="{692CCAA1-131C-4932-999C-32542F51C1F3}"/>
              </a:ext>
            </a:extLst>
          </p:cNvPr>
          <p:cNvSpPr/>
          <p:nvPr userDrawn="1"/>
        </p:nvSpPr>
        <p:spPr>
          <a:xfrm>
            <a:off x="-529367" y="1687321"/>
            <a:ext cx="365760" cy="365760"/>
          </a:xfrm>
          <a:prstGeom prst="roundRect">
            <a:avLst/>
          </a:prstGeom>
          <a:solidFill>
            <a:srgbClr val="53B8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Rectangle: Rounded Corners 24">
            <a:extLst>
              <a:ext uri="{FF2B5EF4-FFF2-40B4-BE49-F238E27FC236}">
                <a16:creationId xmlns:a16="http://schemas.microsoft.com/office/drawing/2014/main" id="{48B342C5-884F-4D61-888B-89B7060F68FD}"/>
              </a:ext>
            </a:extLst>
          </p:cNvPr>
          <p:cNvSpPr/>
          <p:nvPr userDrawn="1"/>
        </p:nvSpPr>
        <p:spPr>
          <a:xfrm>
            <a:off x="-529367" y="2809511"/>
            <a:ext cx="365760" cy="365760"/>
          </a:xfrm>
          <a:prstGeom prst="roundRect">
            <a:avLst/>
          </a:prstGeom>
          <a:solidFill>
            <a:srgbClr val="007E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Rectangle: Rounded Corners 25">
            <a:extLst>
              <a:ext uri="{FF2B5EF4-FFF2-40B4-BE49-F238E27FC236}">
                <a16:creationId xmlns:a16="http://schemas.microsoft.com/office/drawing/2014/main" id="{24F0722A-66F3-470E-B442-98043A713662}"/>
              </a:ext>
            </a:extLst>
          </p:cNvPr>
          <p:cNvSpPr/>
          <p:nvPr userDrawn="1"/>
        </p:nvSpPr>
        <p:spPr>
          <a:xfrm>
            <a:off x="-529367" y="3370608"/>
            <a:ext cx="365760" cy="365760"/>
          </a:xfrm>
          <a:prstGeom prst="roundRect">
            <a:avLst/>
          </a:prstGeom>
          <a:solidFill>
            <a:srgbClr val="00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65535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Paragraph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p:txBody>
          <a:bodyPr/>
          <a:lstStyle>
            <a:lvl1pPr marL="0" indent="0">
              <a:spcBef>
                <a:spcPts val="1200"/>
              </a:spcBef>
              <a:spcAft>
                <a:spcPts val="0"/>
              </a:spcAft>
              <a:buNone/>
              <a:defRPr sz="2400" b="1">
                <a:solidFill>
                  <a:schemeClr val="accent4"/>
                </a:solidFill>
              </a:defRPr>
            </a:lvl1pPr>
            <a:lvl2pPr marL="231775" indent="-231775">
              <a:spcBef>
                <a:spcPts val="624"/>
              </a:spcBef>
              <a:buFont typeface="Arial" pitchFamily="34" charset="0"/>
              <a:buChar char="•"/>
              <a:defRPr/>
            </a:lvl2pPr>
            <a:lvl3pPr marL="457200" indent="-231775">
              <a:buFont typeface="Arial" pitchFamily="34" charset="0"/>
              <a:buChar char="–"/>
              <a:defRPr/>
            </a:lvl3pPr>
            <a:lvl4pPr marL="688975" indent="-225425">
              <a:buFont typeface="Arial" pitchFamily="34" charset="0"/>
              <a:buChar char="•"/>
              <a:defRPr/>
            </a:lvl4pPr>
            <a:lvl5pPr marL="914400" indent="-225425">
              <a:buFont typeface="Arial" pitchFamily="34" charset="0"/>
              <a:buChar char="–"/>
              <a:tabLst/>
              <a:defRPr/>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7" name="TextBox 6"/>
          <p:cNvSpPr txBox="1"/>
          <p:nvPr userDrawn="1"/>
        </p:nvSpPr>
        <p:spPr>
          <a:xfrm>
            <a:off x="592668" y="6572250"/>
            <a:ext cx="3430969" cy="230832"/>
          </a:xfrm>
          <a:prstGeom prst="rect">
            <a:avLst/>
          </a:prstGeom>
          <a:noFill/>
        </p:spPr>
        <p:txBody>
          <a:bodyPr wrap="square" lIns="0">
            <a:spAutoFit/>
          </a:bodyPr>
          <a:lstStyle/>
          <a:p>
            <a:pPr algn="ctr">
              <a:defRPr/>
            </a:pPr>
            <a:r>
              <a:rPr lang="en-US" sz="900">
                <a:solidFill>
                  <a:srgbClr val="7F7F7F"/>
                </a:solidFill>
                <a:latin typeface="Arial" pitchFamily="34" charset="0"/>
                <a:cs typeface="Arial" pitchFamily="34" charset="0"/>
              </a:rPr>
              <a:t>Copyright © 2021 Accenture All rights reserved.</a:t>
            </a:r>
          </a:p>
        </p:txBody>
      </p:sp>
      <p:sp>
        <p:nvSpPr>
          <p:cNvPr id="3" name="Title 2"/>
          <p:cNvSpPr>
            <a:spLocks noGrp="1"/>
          </p:cNvSpPr>
          <p:nvPr>
            <p:ph type="title" hasCustomPrompt="1"/>
          </p:nvPr>
        </p:nvSpPr>
        <p:spPr/>
        <p:txBody>
          <a:bodyPr/>
          <a:lstStyle/>
          <a:p>
            <a:r>
              <a:rPr lang="en-US" dirty="0"/>
              <a:t>Master Title Slide Headline</a:t>
            </a:r>
            <a:endParaRPr lang="en-CA" dirty="0"/>
          </a:p>
        </p:txBody>
      </p:sp>
    </p:spTree>
    <p:extLst>
      <p:ext uri="{BB962C8B-B14F-4D97-AF65-F5344CB8AC3E}">
        <p14:creationId xmlns:p14="http://schemas.microsoft.com/office/powerpoint/2010/main" val="22053925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5018" y="332076"/>
            <a:ext cx="10235288" cy="776139"/>
          </a:xfrm>
          <a:prstGeom prst="rect">
            <a:avLst/>
          </a:prstGeom>
        </p:spPr>
        <p:txBody>
          <a:bodyPr vert="horz" lIns="0" tIns="0" rIns="130101" bIns="0" rtlCol="0" anchor="t" anchorCtr="0">
            <a:noAutofit/>
          </a:bodyPr>
          <a:lstStyle/>
          <a:p>
            <a:r>
              <a:rPr lang="en-US"/>
              <a:t>Content title</a:t>
            </a:r>
          </a:p>
        </p:txBody>
      </p:sp>
      <p:sp>
        <p:nvSpPr>
          <p:cNvPr id="3" name="Text Placeholder 2"/>
          <p:cNvSpPr>
            <a:spLocks noGrp="1"/>
          </p:cNvSpPr>
          <p:nvPr>
            <p:ph type="body" idx="1"/>
          </p:nvPr>
        </p:nvSpPr>
        <p:spPr>
          <a:xfrm>
            <a:off x="345018" y="1764072"/>
            <a:ext cx="11491383" cy="430652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6" name="Slide Number Placeholder 2">
            <a:extLst>
              <a:ext uri="{FF2B5EF4-FFF2-40B4-BE49-F238E27FC236}">
                <a16:creationId xmlns:a16="http://schemas.microsoft.com/office/drawing/2014/main" id="{A3EF7633-569E-4693-8A4B-F620BBBFE43E}"/>
              </a:ext>
            </a:extLst>
          </p:cNvPr>
          <p:cNvSpPr txBox="1">
            <a:spLocks/>
          </p:cNvSpPr>
          <p:nvPr userDrawn="1"/>
        </p:nvSpPr>
        <p:spPr>
          <a:xfrm>
            <a:off x="11356258" y="6519009"/>
            <a:ext cx="454743" cy="207448"/>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fld id="{4F9AC08D-23A9-440E-BCB9-AA1E9877CC38}" type="slidenum">
              <a:rPr lang="en-US" sz="1000" smtClean="0">
                <a:solidFill>
                  <a:prstClr val="white">
                    <a:lumMod val="65000"/>
                  </a:prstClr>
                </a:solidFill>
                <a:latin typeface="Graphik"/>
              </a:rPr>
              <a:pPr algn="r" defTabSz="914400">
                <a:defRPr/>
              </a:pPr>
              <a:t>‹#›</a:t>
            </a:fld>
            <a:endParaRPr lang="en-US" sz="1000">
              <a:solidFill>
                <a:prstClr val="white">
                  <a:lumMod val="65000"/>
                </a:prstClr>
              </a:solidFill>
              <a:latin typeface="Graphik"/>
            </a:endParaRPr>
          </a:p>
        </p:txBody>
      </p:sp>
    </p:spTree>
    <p:extLst>
      <p:ext uri="{BB962C8B-B14F-4D97-AF65-F5344CB8AC3E}">
        <p14:creationId xmlns:p14="http://schemas.microsoft.com/office/powerpoint/2010/main" val="933034262"/>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90" r:id="rId3"/>
    <p:sldLayoutId id="2147483910" r:id="rId4"/>
    <p:sldLayoutId id="2147483913" r:id="rId5"/>
    <p:sldLayoutId id="2147483915" r:id="rId6"/>
  </p:sldLayoutIdLst>
  <p:hf hdr="0" ftr="0" dt="0"/>
  <p:txStyles>
    <p:titleStyle>
      <a:lvl1pPr algn="l" defTabSz="1734634" rtl="0" eaLnBrk="1" latinLnBrk="0" hangingPunct="1">
        <a:lnSpc>
          <a:spcPct val="80000"/>
        </a:lnSpc>
        <a:spcBef>
          <a:spcPct val="0"/>
        </a:spcBef>
        <a:buNone/>
        <a:defRPr sz="3600" b="0" i="0" kern="1200" cap="none" spc="-133" baseline="0">
          <a:solidFill>
            <a:schemeClr val="tx1"/>
          </a:solidFill>
          <a:latin typeface="+mj-lt"/>
          <a:ea typeface="Arial Black" charset="0"/>
          <a:cs typeface="Arial Black" charset="0"/>
        </a:defRPr>
      </a:lvl1pPr>
    </p:titleStyle>
    <p:bodyStyle>
      <a:lvl1pPr marL="0" indent="0" algn="l" defTabSz="1734634" rtl="0" eaLnBrk="1" latinLnBrk="0" hangingPunct="1">
        <a:lnSpc>
          <a:spcPct val="90000"/>
        </a:lnSpc>
        <a:spcBef>
          <a:spcPts val="800"/>
        </a:spcBef>
        <a:buFont typeface="Arial" charset="0"/>
        <a:buNone/>
        <a:defRPr sz="2133" b="1" i="0" kern="1200" cap="none" baseline="0">
          <a:solidFill>
            <a:schemeClr val="tx1"/>
          </a:solidFill>
          <a:latin typeface="+mn-lt"/>
          <a:ea typeface="Arial Black" charset="0"/>
          <a:cs typeface="Arial Black" charset="0"/>
        </a:defRPr>
      </a:lvl1pPr>
      <a:lvl2pPr marL="182875" indent="-182875" algn="l" defTabSz="1734634" rtl="0" eaLnBrk="1" latinLnBrk="0" hangingPunct="1">
        <a:lnSpc>
          <a:spcPct val="90000"/>
        </a:lnSpc>
        <a:spcBef>
          <a:spcPts val="800"/>
        </a:spcBef>
        <a:buFont typeface="Arial" charset="0"/>
        <a:buChar char="•"/>
        <a:defRPr sz="2133" b="1" i="0" kern="1200" cap="none" baseline="0">
          <a:solidFill>
            <a:schemeClr val="tx1"/>
          </a:solidFill>
          <a:latin typeface="+mn-lt"/>
          <a:ea typeface="Arial Black" charset="0"/>
          <a:cs typeface="Arial Black" charset="0"/>
        </a:defRPr>
      </a:lvl2pPr>
      <a:lvl3pPr marL="365751" indent="-182875" algn="l" defTabSz="1734634" rtl="0" eaLnBrk="1" latinLnBrk="0" hangingPunct="1">
        <a:lnSpc>
          <a:spcPct val="90000"/>
        </a:lnSpc>
        <a:spcBef>
          <a:spcPts val="800"/>
        </a:spcBef>
        <a:buFont typeface="Arial" charset="0"/>
        <a:buChar char="•"/>
        <a:defRPr sz="2133" b="1" i="0" kern="1200" cap="none" baseline="0">
          <a:solidFill>
            <a:schemeClr val="tx1"/>
          </a:solidFill>
          <a:latin typeface="+mn-lt"/>
          <a:ea typeface="Arial Black" charset="0"/>
          <a:cs typeface="Arial Black" charset="0"/>
        </a:defRPr>
      </a:lvl3pPr>
      <a:lvl4pPr marL="0" indent="0" algn="l" defTabSz="1734634" rtl="0" eaLnBrk="1" latinLnBrk="0" hangingPunct="1">
        <a:lnSpc>
          <a:spcPct val="90000"/>
        </a:lnSpc>
        <a:spcBef>
          <a:spcPts val="800"/>
        </a:spcBef>
        <a:buFont typeface="Arial" charset="0"/>
        <a:buNone/>
        <a:defRPr sz="2133" b="1" i="0" kern="1200" cap="none" baseline="0">
          <a:solidFill>
            <a:schemeClr val="tx2"/>
          </a:solidFill>
          <a:latin typeface="+mn-lt"/>
          <a:ea typeface="Arial Black" charset="0"/>
          <a:cs typeface="Arial Black" charset="0"/>
        </a:defRPr>
      </a:lvl4pPr>
      <a:lvl5pPr marL="182875"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mn-lt"/>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mn-lt"/>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mn-lt"/>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mn-lt"/>
          <a:ea typeface="Arial Black" charset="0"/>
          <a:cs typeface="Arial Black" charset="0"/>
        </a:defRPr>
      </a:lvl9pPr>
    </p:bodyStyle>
    <p:otherStyle>
      <a:defPPr>
        <a:defRPr lang="en-US"/>
      </a:defPPr>
      <a:lvl1pPr marL="0" algn="l" defTabSz="1734634" rtl="0" eaLnBrk="1" latinLnBrk="0" hangingPunct="1">
        <a:defRPr sz="3467" kern="1200">
          <a:solidFill>
            <a:schemeClr val="tx1"/>
          </a:solidFill>
          <a:latin typeface="+mn-lt"/>
          <a:ea typeface="+mn-ea"/>
          <a:cs typeface="+mn-cs"/>
        </a:defRPr>
      </a:lvl1pPr>
      <a:lvl2pPr marL="867317" algn="l" defTabSz="1734634" rtl="0" eaLnBrk="1" latinLnBrk="0" hangingPunct="1">
        <a:defRPr sz="3467" kern="1200">
          <a:solidFill>
            <a:schemeClr val="tx1"/>
          </a:solidFill>
          <a:latin typeface="+mn-lt"/>
          <a:ea typeface="+mn-ea"/>
          <a:cs typeface="+mn-cs"/>
        </a:defRPr>
      </a:lvl2pPr>
      <a:lvl3pPr marL="1734634" algn="l" defTabSz="1734634" rtl="0" eaLnBrk="1" latinLnBrk="0" hangingPunct="1">
        <a:defRPr sz="3467" kern="1200">
          <a:solidFill>
            <a:schemeClr val="tx1"/>
          </a:solidFill>
          <a:latin typeface="+mn-lt"/>
          <a:ea typeface="+mn-ea"/>
          <a:cs typeface="+mn-cs"/>
        </a:defRPr>
      </a:lvl3pPr>
      <a:lvl4pPr marL="2601951" algn="l" defTabSz="1734634" rtl="0" eaLnBrk="1" latinLnBrk="0" hangingPunct="1">
        <a:defRPr sz="3467" kern="1200">
          <a:solidFill>
            <a:schemeClr val="tx1"/>
          </a:solidFill>
          <a:latin typeface="+mn-lt"/>
          <a:ea typeface="+mn-ea"/>
          <a:cs typeface="+mn-cs"/>
        </a:defRPr>
      </a:lvl4pPr>
      <a:lvl5pPr marL="3469269" algn="l" defTabSz="1734634" rtl="0" eaLnBrk="1" latinLnBrk="0" hangingPunct="1">
        <a:defRPr sz="3467" kern="1200">
          <a:solidFill>
            <a:schemeClr val="tx1"/>
          </a:solidFill>
          <a:latin typeface="+mn-lt"/>
          <a:ea typeface="+mn-ea"/>
          <a:cs typeface="+mn-cs"/>
        </a:defRPr>
      </a:lvl5pPr>
      <a:lvl6pPr marL="4336586" algn="l" defTabSz="1734634" rtl="0" eaLnBrk="1" latinLnBrk="0" hangingPunct="1">
        <a:defRPr sz="3467" kern="1200">
          <a:solidFill>
            <a:schemeClr val="tx1"/>
          </a:solidFill>
          <a:latin typeface="+mn-lt"/>
          <a:ea typeface="+mn-ea"/>
          <a:cs typeface="+mn-cs"/>
        </a:defRPr>
      </a:lvl6pPr>
      <a:lvl7pPr marL="5203903" algn="l" defTabSz="1734634" rtl="0" eaLnBrk="1" latinLnBrk="0" hangingPunct="1">
        <a:defRPr sz="3467" kern="1200">
          <a:solidFill>
            <a:schemeClr val="tx1"/>
          </a:solidFill>
          <a:latin typeface="+mn-lt"/>
          <a:ea typeface="+mn-ea"/>
          <a:cs typeface="+mn-cs"/>
        </a:defRPr>
      </a:lvl7pPr>
      <a:lvl8pPr marL="6071220" algn="l" defTabSz="1734634" rtl="0" eaLnBrk="1" latinLnBrk="0" hangingPunct="1">
        <a:defRPr sz="3467" kern="1200">
          <a:solidFill>
            <a:schemeClr val="tx1"/>
          </a:solidFill>
          <a:latin typeface="+mn-lt"/>
          <a:ea typeface="+mn-ea"/>
          <a:cs typeface="+mn-cs"/>
        </a:defRPr>
      </a:lvl8pPr>
      <a:lvl9pPr marL="6938537" algn="l" defTabSz="1734634" rtl="0" eaLnBrk="1" latinLnBrk="0" hangingPunct="1">
        <a:defRPr sz="34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96">
          <p15:clr>
            <a:srgbClr val="F26B43"/>
          </p15:clr>
        </p15:guide>
        <p15:guide id="2" pos="2880">
          <p15:clr>
            <a:srgbClr val="F26B43"/>
          </p15:clr>
        </p15:guide>
        <p15:guide id="3" pos="163">
          <p15:clr>
            <a:srgbClr val="F26B43"/>
          </p15:clr>
        </p15:guide>
        <p15:guide id="4" pos="5592">
          <p15:clr>
            <a:srgbClr val="F26B43"/>
          </p15:clr>
        </p15:guide>
        <p15:guide id="5" orient="horz" pos="852">
          <p15:clr>
            <a:srgbClr val="F26B43"/>
          </p15:clr>
        </p15:guide>
        <p15:guide id="7" orient="horz" pos="156">
          <p15:clr>
            <a:srgbClr val="F26B43"/>
          </p15:clr>
        </p15:guide>
        <p15:guide id="8" orient="horz" pos="2868">
          <p15:clr>
            <a:srgbClr val="F26B43"/>
          </p15:clr>
        </p15:guide>
        <p15:guide id="9" orient="horz" pos="1524">
          <p15:clr>
            <a:srgbClr val="F26B43"/>
          </p15:clr>
        </p15:guide>
        <p15:guide id="10" orient="horz" pos="30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CCD3489-7ADE-441F-98FA-5D442F01EA4D}"/>
              </a:ext>
            </a:extLst>
          </p:cNvPr>
          <p:cNvSpPr>
            <a:spLocks noGrp="1"/>
          </p:cNvSpPr>
          <p:nvPr>
            <p:ph type="title"/>
          </p:nvPr>
        </p:nvSpPr>
        <p:spPr>
          <a:xfrm>
            <a:off x="139590" y="286792"/>
            <a:ext cx="8254579" cy="572162"/>
          </a:xfrm>
          <a:ln>
            <a:solidFill>
              <a:srgbClr val="7030A0"/>
            </a:solidFill>
          </a:ln>
        </p:spPr>
        <p:txBody>
          <a:bodyPr anchor="ctr"/>
          <a:lstStyle/>
          <a:p>
            <a:r>
              <a:rPr lang="en-US" sz="2750" dirty="0">
                <a:ea typeface="Calibri" panose="020F0502020204030204" pitchFamily="34" charset="0"/>
              </a:rPr>
              <a:t>Kim Edrian Binasoy – Business Architecture Analyst</a:t>
            </a:r>
            <a:endParaRPr lang="en-US" sz="2750" dirty="0"/>
          </a:p>
        </p:txBody>
      </p:sp>
      <p:sp>
        <p:nvSpPr>
          <p:cNvPr id="11" name="AutoShape 3">
            <a:extLst>
              <a:ext uri="{FF2B5EF4-FFF2-40B4-BE49-F238E27FC236}">
                <a16:creationId xmlns:a16="http://schemas.microsoft.com/office/drawing/2014/main" id="{2FAAB06B-F1D1-44F8-9D54-90A09D446A6A}"/>
              </a:ext>
            </a:extLst>
          </p:cNvPr>
          <p:cNvSpPr>
            <a:spLocks noChangeArrowheads="1"/>
          </p:cNvSpPr>
          <p:nvPr/>
        </p:nvSpPr>
        <p:spPr bwMode="auto">
          <a:xfrm>
            <a:off x="4703201" y="1010330"/>
            <a:ext cx="7314628" cy="5421222"/>
          </a:xfrm>
          <a:prstGeom prst="roundRect">
            <a:avLst>
              <a:gd name="adj" fmla="val 3218"/>
            </a:avLst>
          </a:prstGeom>
          <a:ln>
            <a:solidFill>
              <a:srgbClr val="7030A0"/>
            </a:solidFill>
            <a:headEnd/>
            <a:tailEnd type="none" w="med" len="lg"/>
          </a:ln>
        </p:spPr>
        <p:style>
          <a:lnRef idx="2">
            <a:schemeClr val="accent2"/>
          </a:lnRef>
          <a:fillRef idx="1">
            <a:schemeClr val="lt1"/>
          </a:fillRef>
          <a:effectRef idx="0">
            <a:schemeClr val="accent2"/>
          </a:effectRef>
          <a:fontRef idx="minor">
            <a:schemeClr val="dk1"/>
          </a:fontRef>
        </p:style>
        <p:txBody>
          <a:bodyPr lIns="18288" tIns="82296" rIns="18288"/>
          <a:lstStyle/>
          <a:p>
            <a:pPr fontAlgn="base"/>
            <a:r>
              <a:rPr lang="en-US" sz="1100" b="1" dirty="0">
                <a:ea typeface="Times New Roman" panose="02020603050405020304" pitchFamily="18" charset="0"/>
              </a:rPr>
              <a:t>Cloud Operations Engineer – Transportation, </a:t>
            </a:r>
            <a:r>
              <a:rPr lang="en-US" sz="1100" i="1" dirty="0">
                <a:ea typeface="Times New Roman" panose="02020603050405020304" pitchFamily="18" charset="0"/>
              </a:rPr>
              <a:t>Jul 2024 – Present</a:t>
            </a:r>
          </a:p>
          <a:p>
            <a:pPr marL="171450" lvl="0" indent="-171450" fontAlgn="base">
              <a:spcBef>
                <a:spcPct val="0"/>
              </a:spcBef>
              <a:spcAft>
                <a:spcPct val="0"/>
              </a:spcAft>
              <a:buFont typeface="Arial" panose="020B0604020202020204" pitchFamily="34" charset="0"/>
              <a:buChar char="•"/>
            </a:pPr>
            <a:r>
              <a:rPr lang="en-US" altLang="en-US" sz="1100" dirty="0"/>
              <a:t>Monitored and administered multi-environment Azure landscapes (testing, pre-production, and production), ensuring stability, availability, and adherence to change management controls</a:t>
            </a:r>
          </a:p>
          <a:p>
            <a:pPr marL="171450" lvl="0" indent="-171450" fontAlgn="base">
              <a:spcBef>
                <a:spcPct val="0"/>
              </a:spcBef>
              <a:spcAft>
                <a:spcPct val="0"/>
              </a:spcAft>
              <a:buFont typeface="Arial" panose="020B0604020202020204" pitchFamily="34" charset="0"/>
              <a:buChar char="•"/>
            </a:pPr>
            <a:r>
              <a:rPr lang="en-US" altLang="en-US" sz="1100" dirty="0"/>
              <a:t>Performed daily operational health checks on certificates, secrets, app registrations, and service principals, proactively identifying upcoming expiries and coordinating timely remediation</a:t>
            </a:r>
          </a:p>
          <a:p>
            <a:pPr marL="171450" lvl="0" indent="-171450" fontAlgn="base">
              <a:spcBef>
                <a:spcPct val="0"/>
              </a:spcBef>
              <a:spcAft>
                <a:spcPct val="0"/>
              </a:spcAft>
              <a:buFont typeface="Arial" panose="020B0604020202020204" pitchFamily="34" charset="0"/>
              <a:buChar char="•"/>
            </a:pPr>
            <a:r>
              <a:rPr lang="en-US" altLang="en-US" sz="1100" dirty="0"/>
              <a:t>Managed incident triage and routing, acting as a central point of contact to direct issues and requests to the appropriate infrastructure, security, and application teams</a:t>
            </a:r>
          </a:p>
          <a:p>
            <a:pPr marL="171450" lvl="0" indent="-171450" fontAlgn="base">
              <a:spcBef>
                <a:spcPct val="0"/>
              </a:spcBef>
              <a:spcAft>
                <a:spcPct val="0"/>
              </a:spcAft>
              <a:buFont typeface="Arial" panose="020B0604020202020204" pitchFamily="34" charset="0"/>
              <a:buChar char="•"/>
            </a:pPr>
            <a:r>
              <a:rPr lang="en-US" altLang="en-US" sz="1100" dirty="0"/>
              <a:t>Coordinated Disaster Recovery (DR) planning and exercises, aligning activities with defined RTO/RPO targets, tracking follow-up actions, and updating DR documentation and runbooks</a:t>
            </a:r>
          </a:p>
          <a:p>
            <a:pPr marL="171450" lvl="0" indent="-171450" fontAlgn="base">
              <a:spcBef>
                <a:spcPct val="0"/>
              </a:spcBef>
              <a:spcAft>
                <a:spcPct val="0"/>
              </a:spcAft>
              <a:buFont typeface="Arial" panose="020B0604020202020204" pitchFamily="34" charset="0"/>
              <a:buChar char="•"/>
            </a:pPr>
            <a:r>
              <a:rPr lang="en-US" altLang="en-US" sz="1100" dirty="0"/>
              <a:t>Contributed to the improvement of cloud operations processes by refining SOPs, runbooks, and knowledge base articles to reduce operational risk and increase team efficiency</a:t>
            </a:r>
          </a:p>
          <a:p>
            <a:pPr marL="171450" lvl="0" indent="-171450" fontAlgn="base">
              <a:spcBef>
                <a:spcPct val="0"/>
              </a:spcBef>
              <a:spcAft>
                <a:spcPct val="0"/>
              </a:spcAft>
              <a:buFont typeface="Arial" panose="020B0604020202020204" pitchFamily="34" charset="0"/>
              <a:buChar char="•"/>
            </a:pPr>
            <a:endParaRPr lang="en-US" sz="1100" b="1" dirty="0">
              <a:ea typeface="Times New Roman" panose="02020603050405020304" pitchFamily="18" charset="0"/>
            </a:endParaRPr>
          </a:p>
          <a:p>
            <a:pPr fontAlgn="base"/>
            <a:r>
              <a:rPr lang="en-US" sz="1100" b="1" dirty="0">
                <a:ea typeface="Times New Roman" panose="02020603050405020304" pitchFamily="18" charset="0"/>
              </a:rPr>
              <a:t>Quality Automation Engineer – Transportation, </a:t>
            </a:r>
            <a:r>
              <a:rPr lang="en-US" sz="1100" i="1" dirty="0">
                <a:ea typeface="Times New Roman" panose="02020603050405020304" pitchFamily="18" charset="0"/>
              </a:rPr>
              <a:t>Jun 2023 – Jul 2024</a:t>
            </a:r>
            <a:endParaRPr lang="en-US" sz="1100" b="1" dirty="0">
              <a:ea typeface="Times New Roman" panose="02020603050405020304" pitchFamily="18" charset="0"/>
            </a:endParaRPr>
          </a:p>
          <a:p>
            <a:pPr marL="171450" indent="-171450" fontAlgn="base">
              <a:buFont typeface="Arial" panose="020B0604020202020204" pitchFamily="34" charset="0"/>
              <a:buChar char="•"/>
            </a:pPr>
            <a:r>
              <a:rPr lang="en-US" sz="1100" dirty="0">
                <a:ea typeface="Times New Roman" panose="02020603050405020304" pitchFamily="18" charset="0"/>
              </a:rPr>
              <a:t>Contributed to the successful execution and completion of over 800 test cases, ensuring comprehensive test coverage and adherence to quality standards</a:t>
            </a:r>
          </a:p>
          <a:p>
            <a:pPr marL="171450" indent="-171450" fontAlgn="base">
              <a:buFont typeface="Arial" panose="020B0604020202020204" pitchFamily="34" charset="0"/>
              <a:buChar char="•"/>
            </a:pPr>
            <a:r>
              <a:rPr lang="en-US" sz="1100" dirty="0">
                <a:ea typeface="Times New Roman" panose="02020603050405020304" pitchFamily="18" charset="0"/>
              </a:rPr>
              <a:t>Developed and implemented an innovative automation tool to streamline the documentation process, significantly reducing the time required for test case documentation by 70%</a:t>
            </a:r>
          </a:p>
          <a:p>
            <a:pPr marL="171450" indent="-171450" fontAlgn="base">
              <a:buFont typeface="Arial" panose="020B0604020202020204" pitchFamily="34" charset="0"/>
              <a:buChar char="•"/>
            </a:pPr>
            <a:r>
              <a:rPr lang="en-US" sz="1100" dirty="0">
                <a:ea typeface="Times New Roman" panose="02020603050405020304" pitchFamily="18" charset="0"/>
              </a:rPr>
              <a:t>Collaborated with cross-functional teams to identify areas for automation improvement, resulting in a 40% increase in overall testing efficiency</a:t>
            </a:r>
          </a:p>
          <a:p>
            <a:pPr marL="171450" indent="-171450" fontAlgn="base">
              <a:buFont typeface="Arial" panose="020B0604020202020204" pitchFamily="34" charset="0"/>
              <a:buChar char="•"/>
            </a:pPr>
            <a:r>
              <a:rPr lang="en-US" sz="1100" dirty="0">
                <a:ea typeface="Times New Roman" panose="02020603050405020304" pitchFamily="18" charset="0"/>
              </a:rPr>
              <a:t>Utilized scripting languages and automation frameworks to create robust and scalable automated test suites, improving the overall testing process</a:t>
            </a:r>
          </a:p>
          <a:p>
            <a:pPr marL="171450" indent="-171450" fontAlgn="base">
              <a:buFont typeface="Arial" panose="020B0604020202020204" pitchFamily="34" charset="0"/>
              <a:buChar char="•"/>
            </a:pPr>
            <a:r>
              <a:rPr lang="en-US" sz="1100" dirty="0">
                <a:ea typeface="Times New Roman" panose="02020603050405020304" pitchFamily="18" charset="0"/>
              </a:rPr>
              <a:t>Built and deployed a MS Teams Bot that provides weekly group reminder on recurring operational events</a:t>
            </a:r>
          </a:p>
          <a:p>
            <a:pPr marL="171450" indent="-171450" fontAlgn="base">
              <a:buFont typeface="Arial" panose="020B0604020202020204" pitchFamily="34" charset="0"/>
              <a:buChar char="•"/>
            </a:pPr>
            <a:r>
              <a:rPr lang="en-US" sz="1100" dirty="0">
                <a:ea typeface="Times New Roman" panose="02020603050405020304" pitchFamily="18" charset="0"/>
              </a:rPr>
              <a:t>Created an MVP for a Knowledge Transfer Bot that utilized Gen-AI to answer FAQs and reference sheets for new joiners</a:t>
            </a:r>
            <a:endParaRPr lang="en-US" sz="400" dirty="0">
              <a:ea typeface="Times New Roman" panose="02020603050405020304" pitchFamily="18" charset="0"/>
            </a:endParaRPr>
          </a:p>
          <a:p>
            <a:pPr fontAlgn="base"/>
            <a:endParaRPr lang="en-US" sz="400" dirty="0">
              <a:ea typeface="Times New Roman" panose="02020603050405020304" pitchFamily="18" charset="0"/>
            </a:endParaRPr>
          </a:p>
          <a:p>
            <a:pPr fontAlgn="base"/>
            <a:r>
              <a:rPr lang="en-US" sz="1100" b="1" dirty="0">
                <a:ea typeface="Times New Roman" panose="02020603050405020304" pitchFamily="18" charset="0"/>
              </a:rPr>
              <a:t>Program Management Support – Banking, </a:t>
            </a:r>
            <a:r>
              <a:rPr lang="en-US" sz="1100" i="1" dirty="0">
                <a:ea typeface="Times New Roman" panose="02020603050405020304" pitchFamily="18" charset="0"/>
              </a:rPr>
              <a:t>Jun 2022 – Jun 2023</a:t>
            </a:r>
            <a:endParaRPr lang="en-US" sz="1100" dirty="0">
              <a:ea typeface="Times New Roman" panose="02020603050405020304" pitchFamily="18" charset="0"/>
            </a:endParaRPr>
          </a:p>
          <a:p>
            <a:pPr marL="171450" indent="-171450" fontAlgn="base">
              <a:buFont typeface="Arial" panose="020B0604020202020204" pitchFamily="34" charset="0"/>
              <a:buChar char="•"/>
            </a:pPr>
            <a:r>
              <a:rPr lang="en-US" sz="1100" dirty="0">
                <a:ea typeface="Times New Roman" panose="02020603050405020304" pitchFamily="18" charset="0"/>
              </a:rPr>
              <a:t>Undertook responsibility for the Onboarding/Offboarding process of the project comprised with over 200+ resources at it’s peak, the task included gathering crucial data such access status updates, laptop logistics, resource availability dates and client-resource coordination to ensure it meets the project’s SLA</a:t>
            </a:r>
          </a:p>
          <a:p>
            <a:pPr marL="171450" indent="-171450" fontAlgn="base">
              <a:buFont typeface="Arial" panose="020B0604020202020204" pitchFamily="34" charset="0"/>
              <a:buChar char="•"/>
            </a:pPr>
            <a:r>
              <a:rPr lang="en-US" sz="1100" dirty="0">
                <a:ea typeface="Times New Roman" panose="02020603050405020304" pitchFamily="18" charset="0"/>
              </a:rPr>
              <a:t>Created dashboards and issues, conducted analysis, maintained data, and pulled reports as per requirements</a:t>
            </a:r>
          </a:p>
          <a:p>
            <a:pPr marL="171450" indent="-171450" fontAlgn="base">
              <a:buFont typeface="Arial" panose="020B0604020202020204" pitchFamily="34" charset="0"/>
              <a:buChar char="•"/>
            </a:pPr>
            <a:r>
              <a:rPr lang="en-US" sz="1100" dirty="0">
                <a:ea typeface="Times New Roman" panose="02020603050405020304" pitchFamily="18" charset="0"/>
              </a:rPr>
              <a:t>Led the Day 1 Prep Call between resource and Clients</a:t>
            </a:r>
          </a:p>
        </p:txBody>
      </p:sp>
      <p:sp>
        <p:nvSpPr>
          <p:cNvPr id="17" name="AutoShape 12">
            <a:extLst>
              <a:ext uri="{FF2B5EF4-FFF2-40B4-BE49-F238E27FC236}">
                <a16:creationId xmlns:a16="http://schemas.microsoft.com/office/drawing/2014/main" id="{B2D5C119-88AC-4232-AD21-6B90F6EF79B9}"/>
              </a:ext>
            </a:extLst>
          </p:cNvPr>
          <p:cNvSpPr>
            <a:spLocks noChangeArrowheads="1"/>
          </p:cNvSpPr>
          <p:nvPr/>
        </p:nvSpPr>
        <p:spPr bwMode="auto">
          <a:xfrm>
            <a:off x="160208" y="1145943"/>
            <a:ext cx="4324705" cy="3016242"/>
          </a:xfrm>
          <a:prstGeom prst="roundRect">
            <a:avLst>
              <a:gd name="adj" fmla="val 6250"/>
            </a:avLst>
          </a:prstGeom>
          <a:ln>
            <a:solidFill>
              <a:srgbClr val="7030A0"/>
            </a:solidFill>
            <a:headEnd/>
            <a:tailEnd type="none" w="med" len="lg"/>
          </a:ln>
        </p:spPr>
        <p:style>
          <a:lnRef idx="2">
            <a:schemeClr val="accent2"/>
          </a:lnRef>
          <a:fillRef idx="1">
            <a:schemeClr val="lt1"/>
          </a:fillRef>
          <a:effectRef idx="0">
            <a:schemeClr val="accent2"/>
          </a:effectRef>
          <a:fontRef idx="minor">
            <a:schemeClr val="dk1"/>
          </a:fontRef>
        </p:style>
        <p:txBody>
          <a:bodyPr lIns="73152" tIns="82296" rIns="73152"/>
          <a:lstStyle/>
          <a:p>
            <a:r>
              <a:rPr lang="en-US" sz="1000" b="0" i="0" u="none" strike="noStrike" baseline="0" dirty="0">
                <a:solidFill>
                  <a:srgbClr val="000000"/>
                </a:solidFill>
                <a:latin typeface="Graphik" panose="020B0503030202060203" pitchFamily="34" charset="0"/>
              </a:rPr>
              <a:t>Kim is a highly motivated </a:t>
            </a:r>
            <a:r>
              <a:rPr lang="en-US" sz="1000" dirty="0">
                <a:solidFill>
                  <a:srgbClr val="000000"/>
                </a:solidFill>
                <a:latin typeface="Graphik" panose="020B0503030202060203" pitchFamily="34" charset="0"/>
              </a:rPr>
              <a:t>Business Architecture</a:t>
            </a:r>
            <a:r>
              <a:rPr lang="en-US" sz="1000" b="0" i="0" u="none" strike="noStrike" baseline="0" dirty="0">
                <a:solidFill>
                  <a:srgbClr val="000000"/>
                </a:solidFill>
                <a:latin typeface="Graphik" panose="020B0503030202060203" pitchFamily="34" charset="0"/>
              </a:rPr>
              <a:t> Analyst with over 4+ years of experience in using different programming tools to create meaningful projects. Kim has worked in Transportation, Banking, and Financial Services, and has been exposed to all the phases of Software Development Life Cycle (Agile). </a:t>
            </a:r>
          </a:p>
          <a:p>
            <a:endParaRPr lang="en-US" sz="1000" b="0" i="0" u="none" strike="noStrike" baseline="0" dirty="0">
              <a:solidFill>
                <a:srgbClr val="000000"/>
              </a:solidFill>
              <a:latin typeface="Graphik" panose="020B0503030202060203" pitchFamily="34" charset="0"/>
            </a:endParaRPr>
          </a:p>
          <a:p>
            <a:r>
              <a:rPr lang="en-US" sz="1000" b="0" i="0" u="none" strike="noStrike" baseline="0" dirty="0">
                <a:solidFill>
                  <a:srgbClr val="000000"/>
                </a:solidFill>
                <a:latin typeface="Graphik" panose="020B0503030202060203" pitchFamily="34" charset="0"/>
              </a:rPr>
              <a:t>Kim has industry experience in testing, project management support, analysis and reporting. Additionally, Kim is passionate about improving work efficiency and automation which translates into the ability to grasp and optimize workflow.</a:t>
            </a:r>
            <a:endParaRPr lang="en-US" sz="1000" dirty="0"/>
          </a:p>
        </p:txBody>
      </p:sp>
      <p:sp>
        <p:nvSpPr>
          <p:cNvPr id="19" name="Text Box 4">
            <a:extLst>
              <a:ext uri="{FF2B5EF4-FFF2-40B4-BE49-F238E27FC236}">
                <a16:creationId xmlns:a16="http://schemas.microsoft.com/office/drawing/2014/main" id="{B150ABD9-44F0-4196-9443-2631D589BCB6}"/>
              </a:ext>
            </a:extLst>
          </p:cNvPr>
          <p:cNvSpPr txBox="1">
            <a:spLocks noChangeArrowheads="1"/>
          </p:cNvSpPr>
          <p:nvPr/>
        </p:nvSpPr>
        <p:spPr bwMode="auto">
          <a:xfrm>
            <a:off x="4897232" y="925280"/>
            <a:ext cx="1594981" cy="220662"/>
          </a:xfrm>
          <a:prstGeom prst="rect">
            <a:avLst/>
          </a:prstGeom>
          <a:solidFill>
            <a:schemeClr val="bg1"/>
          </a:solidFill>
          <a:ln w="9525">
            <a:solidFill>
              <a:srgbClr val="7030A0"/>
            </a:solidFill>
            <a:miter lim="800000"/>
            <a:headEnd/>
            <a:tailEnd type="none" w="med" len="lg"/>
          </a:ln>
        </p:spPr>
        <p:txBody>
          <a:bodyPr lIns="45720" rIns="45720"/>
          <a:lstStyle/>
          <a:p>
            <a:pPr marL="0" marR="0" lvl="0" indent="0" algn="l" defTabSz="914400" rtl="0" eaLnBrk="1" fontAlgn="base" latinLnBrk="0" hangingPunct="1">
              <a:lnSpc>
                <a:spcPct val="85000"/>
              </a:lnSpc>
              <a:spcBef>
                <a:spcPct val="50000"/>
              </a:spcBef>
              <a:spcAft>
                <a:spcPct val="50000"/>
              </a:spcAft>
              <a:buClr>
                <a:srgbClr val="445511"/>
              </a:buClr>
              <a:buSzPct val="110000"/>
              <a:buFont typeface="Wingdings" pitchFamily="2" charset="2"/>
              <a:buNone/>
              <a:tabLst/>
              <a:defRPr/>
            </a:pPr>
            <a:r>
              <a:rPr kumimoji="0" lang="en-US" sz="1200" b="1" i="0" u="none" strike="noStrike" kern="1200" cap="none" spc="0" normalizeH="0" baseline="0" noProof="0" dirty="0">
                <a:ln>
                  <a:noFill/>
                </a:ln>
                <a:solidFill>
                  <a:srgbClr val="7030A0"/>
                </a:solidFill>
                <a:effectLst/>
                <a:uLnTx/>
                <a:uFillTx/>
                <a:latin typeface="Arial" charset="0"/>
                <a:ea typeface="+mn-ea"/>
                <a:cs typeface="Times New Roman" pitchFamily="18" charset="0"/>
              </a:rPr>
              <a:t>Selected Experience</a:t>
            </a:r>
            <a:endParaRPr kumimoji="0" lang="en-US" sz="1200" b="1" i="0" u="none" strike="noStrike" kern="1200" cap="none" spc="0" normalizeH="0" baseline="0" noProof="0" dirty="0">
              <a:ln>
                <a:noFill/>
              </a:ln>
              <a:solidFill>
                <a:srgbClr val="7030A0"/>
              </a:solidFill>
              <a:effectLst/>
              <a:uLnTx/>
              <a:uFillTx/>
              <a:latin typeface="Arial" charset="0"/>
              <a:ea typeface="MS PGothic" pitchFamily="34" charset="-128"/>
              <a:cs typeface="Times New Roman" pitchFamily="18" charset="0"/>
            </a:endParaRPr>
          </a:p>
        </p:txBody>
      </p:sp>
      <p:sp>
        <p:nvSpPr>
          <p:cNvPr id="20" name="Text Box 18">
            <a:extLst>
              <a:ext uri="{FF2B5EF4-FFF2-40B4-BE49-F238E27FC236}">
                <a16:creationId xmlns:a16="http://schemas.microsoft.com/office/drawing/2014/main" id="{B3C70865-BD70-44AA-B326-B7048C3254C9}"/>
              </a:ext>
            </a:extLst>
          </p:cNvPr>
          <p:cNvSpPr txBox="1">
            <a:spLocks noChangeArrowheads="1"/>
          </p:cNvSpPr>
          <p:nvPr/>
        </p:nvSpPr>
        <p:spPr bwMode="auto">
          <a:xfrm>
            <a:off x="239788" y="978428"/>
            <a:ext cx="1075970" cy="276999"/>
          </a:xfrm>
          <a:prstGeom prst="rect">
            <a:avLst/>
          </a:prstGeom>
          <a:solidFill>
            <a:schemeClr val="bg1"/>
          </a:solidFill>
          <a:ln w="9525" algn="ctr">
            <a:solidFill>
              <a:srgbClr val="7030A0"/>
            </a:solid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
                <a:srgbClr val="445511"/>
              </a:buClr>
              <a:buSzPct val="110000"/>
              <a:buFont typeface="Wingdings" pitchFamily="2" charset="2"/>
              <a:buNone/>
              <a:tabLst/>
              <a:defRPr/>
            </a:pPr>
            <a:r>
              <a:rPr kumimoji="0" lang="en-US" sz="1200" b="1" i="0" u="none" strike="noStrike" kern="1200" cap="none" spc="0" normalizeH="0" baseline="0" noProof="0" dirty="0">
                <a:ln>
                  <a:noFill/>
                </a:ln>
                <a:solidFill>
                  <a:srgbClr val="7030A0"/>
                </a:solidFill>
                <a:effectLst/>
                <a:uLnTx/>
                <a:uFillTx/>
                <a:latin typeface="Arial" charset="0"/>
                <a:ea typeface="+mn-ea"/>
                <a:cs typeface="Times New Roman" pitchFamily="18" charset="0"/>
              </a:rPr>
              <a:t>Background </a:t>
            </a:r>
          </a:p>
        </p:txBody>
      </p:sp>
      <p:sp>
        <p:nvSpPr>
          <p:cNvPr id="13" name="Rectangle: Rounded Corners 12">
            <a:extLst>
              <a:ext uri="{FF2B5EF4-FFF2-40B4-BE49-F238E27FC236}">
                <a16:creationId xmlns:a16="http://schemas.microsoft.com/office/drawing/2014/main" id="{010C7A18-7674-4708-94B3-DAC4DB53EB77}"/>
              </a:ext>
            </a:extLst>
          </p:cNvPr>
          <p:cNvSpPr/>
          <p:nvPr/>
        </p:nvSpPr>
        <p:spPr>
          <a:xfrm>
            <a:off x="8488391" y="198409"/>
            <a:ext cx="2881223" cy="660546"/>
          </a:xfrm>
          <a:prstGeom prst="roundRect">
            <a:avLst/>
          </a:prstGeom>
          <a:noFill/>
          <a:ln w="285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l"/>
            <a:endParaRPr lang="en-US" sz="1400" b="1">
              <a:solidFill>
                <a:schemeClr val="tx1"/>
              </a:solidFill>
            </a:endParaRPr>
          </a:p>
        </p:txBody>
      </p:sp>
      <p:sp>
        <p:nvSpPr>
          <p:cNvPr id="22" name="TextBox 21">
            <a:extLst>
              <a:ext uri="{FF2B5EF4-FFF2-40B4-BE49-F238E27FC236}">
                <a16:creationId xmlns:a16="http://schemas.microsoft.com/office/drawing/2014/main" id="{DE52BC53-EE4C-46B0-9157-F088B813344D}"/>
              </a:ext>
            </a:extLst>
          </p:cNvPr>
          <p:cNvSpPr txBox="1"/>
          <p:nvPr/>
        </p:nvSpPr>
        <p:spPr>
          <a:xfrm>
            <a:off x="8548777" y="278323"/>
            <a:ext cx="2742519" cy="540295"/>
          </a:xfrm>
          <a:prstGeom prst="rect">
            <a:avLst/>
          </a:prstGeom>
          <a:noFill/>
          <a:ln>
            <a:solidFill>
              <a:srgbClr val="7030A0"/>
            </a:solidFill>
          </a:ln>
        </p:spPr>
        <p:txBody>
          <a:bodyPr vert="horz" wrap="square" lIns="0" tIns="0" rIns="0" bIns="0" rtlCol="0" anchor="t">
            <a:noAutofit/>
          </a:bodyPr>
          <a:lstStyle/>
          <a:p>
            <a:pPr algn="ctr"/>
            <a:r>
              <a:rPr lang="en-US" sz="1100" b="1" dirty="0"/>
              <a:t>Business Architecture Analyst</a:t>
            </a:r>
          </a:p>
          <a:p>
            <a:pPr algn="ctr"/>
            <a:r>
              <a:rPr lang="en-US" sz="1100" b="1" dirty="0"/>
              <a:t>Experience: </a:t>
            </a:r>
            <a:r>
              <a:rPr lang="en-US" sz="1100" dirty="0"/>
              <a:t>3</a:t>
            </a:r>
            <a:r>
              <a:rPr lang="en-US" sz="1100" b="1" dirty="0"/>
              <a:t> </a:t>
            </a:r>
            <a:r>
              <a:rPr lang="en-US" sz="1100" dirty="0"/>
              <a:t>years</a:t>
            </a:r>
          </a:p>
          <a:p>
            <a:pPr algn="ctr"/>
            <a:r>
              <a:rPr lang="en-US" sz="1100" b="1" dirty="0"/>
              <a:t>Overall Experience</a:t>
            </a:r>
            <a:r>
              <a:rPr lang="en-US" sz="1100" dirty="0"/>
              <a:t>: 4+ years </a:t>
            </a:r>
          </a:p>
        </p:txBody>
      </p:sp>
      <p:sp>
        <p:nvSpPr>
          <p:cNvPr id="25" name="AutoShape 12">
            <a:extLst>
              <a:ext uri="{FF2B5EF4-FFF2-40B4-BE49-F238E27FC236}">
                <a16:creationId xmlns:a16="http://schemas.microsoft.com/office/drawing/2014/main" id="{1B7F5194-68CC-4904-B2CC-6F963498A346}"/>
              </a:ext>
            </a:extLst>
          </p:cNvPr>
          <p:cNvSpPr>
            <a:spLocks noChangeArrowheads="1"/>
          </p:cNvSpPr>
          <p:nvPr/>
        </p:nvSpPr>
        <p:spPr bwMode="auto">
          <a:xfrm>
            <a:off x="153986" y="4324620"/>
            <a:ext cx="4325112" cy="2183755"/>
          </a:xfrm>
          <a:prstGeom prst="roundRect">
            <a:avLst>
              <a:gd name="adj" fmla="val 6250"/>
            </a:avLst>
          </a:prstGeom>
          <a:ln>
            <a:solidFill>
              <a:srgbClr val="7030A0"/>
            </a:solidFill>
            <a:headEnd/>
            <a:tailEnd type="none" w="med" len="lg"/>
          </a:ln>
        </p:spPr>
        <p:style>
          <a:lnRef idx="2">
            <a:schemeClr val="accent2"/>
          </a:lnRef>
          <a:fillRef idx="1">
            <a:schemeClr val="lt1"/>
          </a:fillRef>
          <a:effectRef idx="0">
            <a:schemeClr val="accent2"/>
          </a:effectRef>
          <a:fontRef idx="minor">
            <a:schemeClr val="dk1"/>
          </a:fontRef>
        </p:style>
        <p:txBody>
          <a:bodyPr lIns="73152" tIns="82296" rIns="73152" numCol="2"/>
          <a:lstStyle/>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Quality Automation Tools</a:t>
            </a:r>
            <a:r>
              <a:rPr lang="en-US" sz="1050" dirty="0">
                <a:cs typeface="Arial" charset="0"/>
              </a:rPr>
              <a:t>: Zephyr Squad, Power Automate, PowerApps, Selenium</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Languages</a:t>
            </a:r>
            <a:r>
              <a:rPr lang="en-US" sz="1050" dirty="0">
                <a:cs typeface="Arial" charset="0"/>
              </a:rPr>
              <a:t>: Python, Java, HTML, CSS, JavaScript</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Web Technologies</a:t>
            </a:r>
            <a:r>
              <a:rPr lang="en-US" sz="1050" dirty="0">
                <a:cs typeface="Arial" charset="0"/>
              </a:rPr>
              <a:t>: MS-Excel, SharePoint, </a:t>
            </a:r>
            <a:r>
              <a:rPr lang="en-US" sz="1050" dirty="0" err="1">
                <a:cs typeface="Arial" charset="0"/>
              </a:rPr>
              <a:t>PuTTy</a:t>
            </a:r>
            <a:r>
              <a:rPr lang="en-US" sz="1050" dirty="0">
                <a:cs typeface="Arial" charset="0"/>
              </a:rPr>
              <a:t>, Linux, UNIX, WinSCP, GIT, GitHub</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Visualization Tools</a:t>
            </a:r>
            <a:r>
              <a:rPr lang="en-US" sz="1050" dirty="0">
                <a:cs typeface="Arial" charset="0"/>
              </a:rPr>
              <a:t>: MS PowerPoint, Business Process Design, Figma</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Project Management</a:t>
            </a:r>
            <a:r>
              <a:rPr lang="en-US" sz="1050" dirty="0">
                <a:cs typeface="Arial" charset="0"/>
              </a:rPr>
              <a:t>: Agile, JIRA, Resource Onboarding and Offboarding, </a:t>
            </a:r>
            <a:r>
              <a:rPr lang="en-US" sz="1050" dirty="0" err="1">
                <a:cs typeface="Arial" charset="0"/>
              </a:rPr>
              <a:t>MyTimeandExpenses</a:t>
            </a:r>
            <a:r>
              <a:rPr lang="en-US" sz="1050" dirty="0">
                <a:cs typeface="Arial" charset="0"/>
              </a:rPr>
              <a:t>, Asset Logistics</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Development Methodologies</a:t>
            </a:r>
            <a:r>
              <a:rPr lang="en-US" sz="1050" dirty="0">
                <a:cs typeface="Arial" charset="0"/>
              </a:rPr>
              <a:t>: Agile, Waterfall</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Build Tools</a:t>
            </a:r>
            <a:r>
              <a:rPr lang="en-US" sz="1050" dirty="0">
                <a:cs typeface="Arial" charset="0"/>
              </a:rPr>
              <a:t>: Maven, Gradle, GIT, Eclipse, IntelliJ</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Certifications</a:t>
            </a:r>
            <a:r>
              <a:rPr lang="en-US" sz="1050" dirty="0">
                <a:cs typeface="Arial" charset="0"/>
              </a:rPr>
              <a:t>: AZ-900, AI-900, AWS Certified Cloud Practitioner</a:t>
            </a:r>
          </a:p>
        </p:txBody>
      </p:sp>
      <p:sp>
        <p:nvSpPr>
          <p:cNvPr id="21" name="Text Box 18">
            <a:extLst>
              <a:ext uri="{FF2B5EF4-FFF2-40B4-BE49-F238E27FC236}">
                <a16:creationId xmlns:a16="http://schemas.microsoft.com/office/drawing/2014/main" id="{84CC4CCF-3D7F-440C-A015-DE73013DEE49}"/>
              </a:ext>
            </a:extLst>
          </p:cNvPr>
          <p:cNvSpPr txBox="1">
            <a:spLocks noChangeArrowheads="1"/>
          </p:cNvSpPr>
          <p:nvPr/>
        </p:nvSpPr>
        <p:spPr bwMode="auto">
          <a:xfrm>
            <a:off x="239788" y="4205146"/>
            <a:ext cx="2693053" cy="276999"/>
          </a:xfrm>
          <a:prstGeom prst="rect">
            <a:avLst/>
          </a:prstGeom>
          <a:solidFill>
            <a:schemeClr val="bg1"/>
          </a:solidFill>
          <a:ln w="9525" algn="ctr">
            <a:solidFill>
              <a:srgbClr val="7030A0"/>
            </a:solid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
                <a:srgbClr val="445511"/>
              </a:buClr>
              <a:buSzPct val="110000"/>
              <a:buFont typeface="Wingdings" pitchFamily="2" charset="2"/>
              <a:buNone/>
              <a:tabLst/>
              <a:defRPr/>
            </a:pPr>
            <a:r>
              <a:rPr kumimoji="0" lang="en-US" sz="1200" b="1" i="0" u="none" strike="noStrike" kern="1200" cap="none" spc="0" normalizeH="0" baseline="0" noProof="0" dirty="0">
                <a:ln>
                  <a:noFill/>
                </a:ln>
                <a:solidFill>
                  <a:srgbClr val="7030A0"/>
                </a:solidFill>
                <a:effectLst/>
                <a:uLnTx/>
                <a:uFillTx/>
                <a:latin typeface="Arial" charset="0"/>
                <a:ea typeface="+mn-ea"/>
                <a:cs typeface="Times New Roman" pitchFamily="18" charset="0"/>
              </a:rPr>
              <a:t>Highlight of Skills and Capabilities</a:t>
            </a:r>
          </a:p>
        </p:txBody>
      </p:sp>
    </p:spTree>
    <p:extLst>
      <p:ext uri="{BB962C8B-B14F-4D97-AF65-F5344CB8AC3E}">
        <p14:creationId xmlns:p14="http://schemas.microsoft.com/office/powerpoint/2010/main" val="11393993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Hana insert content"/>
</p:tagLst>
</file>

<file path=ppt/theme/theme1.xml><?xml version="1.0" encoding="utf-8"?>
<a:theme xmlns:a="http://schemas.openxmlformats.org/drawingml/2006/main" name="Accenture aug2016">
  <a:themeElements>
    <a:clrScheme name="Custom 5">
      <a:dk1>
        <a:srgbClr val="000000"/>
      </a:dk1>
      <a:lt1>
        <a:srgbClr val="FFFFFF"/>
      </a:lt1>
      <a:dk2>
        <a:srgbClr val="919191"/>
      </a:dk2>
      <a:lt2>
        <a:srgbClr val="0F7F22"/>
      </a:lt2>
      <a:accent1>
        <a:srgbClr val="0AB212"/>
      </a:accent1>
      <a:accent2>
        <a:srgbClr val="0AB212"/>
      </a:accent2>
      <a:accent3>
        <a:srgbClr val="009900"/>
      </a:accent3>
      <a:accent4>
        <a:srgbClr val="33CC33"/>
      </a:accent4>
      <a:accent5>
        <a:srgbClr val="336600"/>
      </a:accent5>
      <a:accent6>
        <a:srgbClr val="333300"/>
      </a:accent6>
      <a:hlink>
        <a:srgbClr val="336600"/>
      </a:hlink>
      <a:folHlink>
        <a:srgbClr val="00B050"/>
      </a:folHlink>
    </a:clrScheme>
    <a:fontScheme name="Custom 1">
      <a:majorFont>
        <a:latin typeface="Graphik Semibold"/>
        <a:ea typeface=""/>
        <a:cs typeface=""/>
      </a:majorFont>
      <a:minorFont>
        <a:latin typeface="Graphik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Mod val="50000"/>
            <a:lumOff val="50000"/>
          </a:schemeClr>
        </a:solidFill>
        <a:ln>
          <a:noFill/>
        </a:ln>
        <a:effectLst/>
      </a:spPr>
      <a:bodyPr rtlCol="0" anchor="t"/>
      <a:lstStyle>
        <a:defPPr algn="l">
          <a:defRPr sz="1400" dirty="0" smtClean="0">
            <a:solidFill>
              <a:schemeClr val="tx1"/>
            </a:solidFill>
          </a:defRPr>
        </a:defPPr>
      </a:lstStyle>
      <a:style>
        <a:lnRef idx="1">
          <a:schemeClr val="accent1"/>
        </a:lnRef>
        <a:fillRef idx="3">
          <a:schemeClr val="accent1"/>
        </a:fillRef>
        <a:effectRef idx="2">
          <a:schemeClr val="accent1"/>
        </a:effectRef>
        <a:fontRef idx="minor">
          <a:schemeClr val="lt1"/>
        </a:fontRef>
      </a:style>
    </a:spDef>
    <a:txDef>
      <a:spPr/>
      <a:bodyPr vert="horz" lIns="0" tIns="0" rIns="0" bIns="0" rtlCol="0">
        <a:noAutofit/>
      </a:bodyPr>
      <a:lstStyle>
        <a:defPPr>
          <a:defRPr dirty="0" err="1"/>
        </a:defPPr>
      </a:lst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rgbClr val="FFFFFF"/>
        </a:solidFill>
        <a:solidFill>
          <a:srgbClr val="FFFFFF"/>
        </a:solidFill>
        <a:solidFill>
          <a:srgbClr val="FFFFFF"/>
        </a:solidFill>
      </a:fillStyleLst>
      <a:lnStyleLst>
        <a:ln>
          <a:solidFill>
            <a:srgbClr val="000000"/>
          </a:solidFill>
        </a:ln>
        <a:ln>
          <a:solidFill>
            <a:srgbClr val="000000"/>
          </a:solidFill>
        </a:ln>
        <a:ln>
          <a:solidFill>
            <a:srgbClr val="000000"/>
          </a:solidFill>
        </a:ln>
      </a:lnStyleLst>
      <a:effectStyleLst>
        <a:effectStyle>
          <a:effectLst/>
        </a:effectStyle>
        <a:effectStyle>
          <a:effectLst/>
        </a:effectStyle>
        <a:effectStyle>
          <a:effectLst/>
        </a:effectStyle>
      </a:effectStyleLst>
      <a:bgFillStyleLst>
        <a:solidFill>
          <a:srgbClr val="FFFFFF"/>
        </a:solidFill>
        <a:solidFill>
          <a:srgbClr val="FFFFFF"/>
        </a:solidFill>
        <a:solidFill>
          <a:srgbClr val="FFFFFF"/>
        </a:soli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f98fced0-8e94-464c-8c53-08b008776b53">
      <UserInfo>
        <DisplayName>Hamidi, Sami</DisplayName>
        <AccountId>110</AccountId>
        <AccountType/>
      </UserInfo>
      <UserInfo>
        <DisplayName>Hamel, Kathryn</DisplayName>
        <AccountId>114</AccountId>
        <AccountType/>
      </UserInfo>
      <UserInfo>
        <DisplayName>Ng, Christina A.</DisplayName>
        <AccountId>175</AccountId>
        <AccountType/>
      </UserInfo>
      <UserInfo>
        <DisplayName>Hocanin, Tahsin</DisplayName>
        <AccountId>33</AccountId>
        <AccountType/>
      </UserInfo>
      <UserInfo>
        <DisplayName>Pascua, Kriska</DisplayName>
        <AccountId>184</AccountId>
        <AccountType/>
      </UserInfo>
      <UserInfo>
        <DisplayName>Rathi, Piyush</DisplayName>
        <AccountId>341</AccountId>
        <AccountType/>
      </UserInfo>
      <UserInfo>
        <DisplayName>Fung, Jessica</DisplayName>
        <AccountId>340</AccountId>
        <AccountType/>
      </UserInfo>
      <UserInfo>
        <DisplayName>Chandrasekaran, Thirumurugan</DisplayName>
        <AccountId>373</AccountId>
        <AccountType/>
      </UserInfo>
      <UserInfo>
        <DisplayName>Pannekatla, Jamal B.</DisplayName>
        <AccountId>47</AccountId>
        <AccountType/>
      </UserInfo>
      <UserInfo>
        <DisplayName>Dhanjal, Sarbjit</DisplayName>
        <AccountId>43</AccountId>
        <AccountType/>
      </UserInfo>
    </SharedWithUsers>
    <lcf76f155ced4ddcb4097134ff3c332f xmlns="bf489801-7cd2-4c90-830a-8660ba0294e2">
      <Terms xmlns="http://schemas.microsoft.com/office/infopath/2007/PartnerControls"/>
    </lcf76f155ced4ddcb4097134ff3c332f>
    <TaxCatchAll xmlns="f98fced0-8e94-464c-8c53-08b008776b5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79388EF6D154048B3EE959EDD23A610" ma:contentTypeVersion="18" ma:contentTypeDescription="Create a new document." ma:contentTypeScope="" ma:versionID="b1dfde9ca7a4fae3d4a2a70601d7d647">
  <xsd:schema xmlns:xsd="http://www.w3.org/2001/XMLSchema" xmlns:xs="http://www.w3.org/2001/XMLSchema" xmlns:p="http://schemas.microsoft.com/office/2006/metadata/properties" xmlns:ns2="bf489801-7cd2-4c90-830a-8660ba0294e2" xmlns:ns3="f98fced0-8e94-464c-8c53-08b008776b53" targetNamespace="http://schemas.microsoft.com/office/2006/metadata/properties" ma:root="true" ma:fieldsID="6836a7323bb3677b7b26885fc07dfc3e" ns2:_="" ns3:_="">
    <xsd:import namespace="bf489801-7cd2-4c90-830a-8660ba0294e2"/>
    <xsd:import namespace="f98fced0-8e94-464c-8c53-08b008776b5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489801-7cd2-4c90-830a-8660ba0294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8fced0-8e94-464c-8c53-08b008776b5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01c927b-9d58-405f-8d1b-b3fe2d7959dd}" ma:internalName="TaxCatchAll" ma:showField="CatchAllData" ma:web="f98fced0-8e94-464c-8c53-08b008776b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E5D06E-0B28-4256-A150-D42294755FAB}">
  <ds:schemaRefs>
    <ds:schemaRef ds:uri="http://schemas.microsoft.com/sharepoint/v3/contenttype/forms"/>
  </ds:schemaRefs>
</ds:datastoreItem>
</file>

<file path=customXml/itemProps2.xml><?xml version="1.0" encoding="utf-8"?>
<ds:datastoreItem xmlns:ds="http://schemas.openxmlformats.org/officeDocument/2006/customXml" ds:itemID="{FD49BB7B-B935-48FD-910D-DFDDD7BC1CC3}">
  <ds:schemaRefs>
    <ds:schemaRef ds:uri="http://schemas.microsoft.com/office/2006/documentManagement/types"/>
    <ds:schemaRef ds:uri="http://purl.org/dc/dcmitype/"/>
    <ds:schemaRef ds:uri="http://purl.org/dc/elements/1.1/"/>
    <ds:schemaRef ds:uri="bf489801-7cd2-4c90-830a-8660ba0294e2"/>
    <ds:schemaRef ds:uri="f98fced0-8e94-464c-8c53-08b008776b53"/>
    <ds:schemaRef ds:uri="http://schemas.microsoft.com/office/infopath/2007/PartnerControls"/>
    <ds:schemaRef ds:uri="http://schemas.microsoft.com/office/2006/metadata/properti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5CEE527-7EF2-4C69-BD00-AF132FB49A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489801-7cd2-4c90-830a-8660ba0294e2"/>
    <ds:schemaRef ds:uri="f98fced0-8e94-464c-8c53-08b008776b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426</TotalTime>
  <Words>580</Words>
  <Application>Microsoft Office PowerPoint</Application>
  <PresentationFormat>Widescreen</PresentationFormat>
  <Paragraphs>38</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Graphik</vt:lpstr>
      <vt:lpstr>Graphik Light</vt:lpstr>
      <vt:lpstr>Graphik Semibold</vt:lpstr>
      <vt:lpstr>Helvetica Neue</vt:lpstr>
      <vt:lpstr>Times New Roman</vt:lpstr>
      <vt:lpstr>Wingdings</vt:lpstr>
      <vt:lpstr>Accenture aug2016</vt:lpstr>
      <vt:lpstr>Kim Edrian Binasoy – Business Architecture Analyst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Staffing and Assessment Process</dc:title>
  <dc:creator>Barcus, Ana</dc:creator>
  <cp:lastModifiedBy>Binasoy, Kim Edrian</cp:lastModifiedBy>
  <cp:revision>10</cp:revision>
  <dcterms:created xsi:type="dcterms:W3CDTF">2021-03-02T21:05:02Z</dcterms:created>
  <dcterms:modified xsi:type="dcterms:W3CDTF">2026-01-12T17:13:07Z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0x010100379388EF6D154048B3EE959EDD23A610</vt:lpwstr>
  </property>
</Properties>
</file>